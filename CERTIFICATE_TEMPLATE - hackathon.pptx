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Lst>
  <p:sldSz cx="10693400" cy="7556500"/>
  <p:notesSz cx="6858000" cy="9144000"/>
  <p:embeddedFontLst>
    <p:embeddedFont>
      <p:font typeface="Cardo Bold" panose="02020804080000020003"/>
      <p:bold r:id="rId7"/>
    </p:embeddedFont>
    <p:embeddedFont>
      <p:font typeface="Cardo" panose="02020600000000000000"/>
      <p:regular r:id="rId8"/>
      <p:bold r:id="rId9"/>
      <p:italic r:id="rId10"/>
    </p:embeddedFont>
    <p:embeddedFont>
      <p:font typeface="Bebas Neue Bold" panose="020B0606020202050201"/>
      <p:bold r:id="rId11"/>
    </p:embeddedFont>
    <p:embeddedFont>
      <p:font typeface="Calibri" panose="020F0502020204030204"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29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92"/>
        <p:guide pos="292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font" Target="fonts/font3.fntdata"/><Relationship Id="rId8" Type="http://schemas.openxmlformats.org/officeDocument/2006/relationships/font" Target="fonts/font2.fntdata"/><Relationship Id="rId7" Type="http://schemas.openxmlformats.org/officeDocument/2006/relationships/font" Target="fonts/font1.fntdata"/><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font" Target="fonts/font9.fntdata"/><Relationship Id="rId14" Type="http://schemas.openxmlformats.org/officeDocument/2006/relationships/font" Target="fonts/font8.fntdata"/><Relationship Id="rId13" Type="http://schemas.openxmlformats.org/officeDocument/2006/relationships/font" Target="fonts/font7.fntdata"/><Relationship Id="rId12" Type="http://schemas.openxmlformats.org/officeDocument/2006/relationships/font" Target="fonts/font6.fntdata"/><Relationship Id="rId11" Type="http://schemas.openxmlformats.org/officeDocument/2006/relationships/font" Target="fonts/font5.fntdata"/><Relationship Id="rId10" Type="http://schemas.openxmlformats.org/officeDocument/2006/relationships/font" Target="fonts/font4.fntdata"/><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9" Type="http://schemas.openxmlformats.org/officeDocument/2006/relationships/slideLayout" Target="../slideLayouts/slideLayout7.xml"/><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0693400" cy="7605395"/>
          </a:xfrm>
          <a:custGeom>
            <a:avLst/>
            <a:gdLst/>
            <a:ahLst/>
            <a:cxnLst/>
            <a:rect l="l" t="t" r="r" b="b"/>
            <a:pathLst>
              <a:path w="10759393" h="7605546">
                <a:moveTo>
                  <a:pt x="0" y="0"/>
                </a:moveTo>
                <a:lnTo>
                  <a:pt x="10759393" y="0"/>
                </a:lnTo>
                <a:lnTo>
                  <a:pt x="10759393" y="7605546"/>
                </a:lnTo>
                <a:lnTo>
                  <a:pt x="0" y="7605546"/>
                </a:lnTo>
                <a:lnTo>
                  <a:pt x="0" y="0"/>
                </a:lnTo>
                <a:close/>
              </a:path>
            </a:pathLst>
          </a:custGeom>
          <a:blipFill>
            <a:blip r:embed="rId1"/>
            <a:stretch>
              <a:fillRect/>
            </a:stretch>
          </a:blipFill>
        </p:spPr>
      </p:sp>
      <p:grpSp>
        <p:nvGrpSpPr>
          <p:cNvPr id="3" name="Group 3"/>
          <p:cNvGrpSpPr/>
          <p:nvPr/>
        </p:nvGrpSpPr>
        <p:grpSpPr>
          <a:xfrm rot="0">
            <a:off x="3605079" y="1447762"/>
            <a:ext cx="946061" cy="301019"/>
            <a:chOff x="0" y="0"/>
            <a:chExt cx="1261415" cy="401358"/>
          </a:xfrm>
        </p:grpSpPr>
        <p:sp>
          <p:nvSpPr>
            <p:cNvPr id="4" name="Freeform 4"/>
            <p:cNvSpPr/>
            <p:nvPr/>
          </p:nvSpPr>
          <p:spPr>
            <a:xfrm>
              <a:off x="0" y="0"/>
              <a:ext cx="1261364" cy="401320"/>
            </a:xfrm>
            <a:custGeom>
              <a:avLst/>
              <a:gdLst/>
              <a:ahLst/>
              <a:cxnLst/>
              <a:rect l="l" t="t" r="r" b="b"/>
              <a:pathLst>
                <a:path w="1261364" h="401320">
                  <a:moveTo>
                    <a:pt x="0" y="0"/>
                  </a:moveTo>
                  <a:lnTo>
                    <a:pt x="1261364" y="0"/>
                  </a:lnTo>
                  <a:lnTo>
                    <a:pt x="1261364" y="401320"/>
                  </a:lnTo>
                  <a:lnTo>
                    <a:pt x="0" y="401320"/>
                  </a:lnTo>
                  <a:lnTo>
                    <a:pt x="0" y="0"/>
                  </a:lnTo>
                  <a:close/>
                </a:path>
              </a:pathLst>
            </a:custGeom>
            <a:blipFill>
              <a:blip r:embed="rId2"/>
              <a:stretch>
                <a:fillRect r="-4" b="-9"/>
              </a:stretch>
            </a:blipFill>
          </p:spPr>
        </p:sp>
      </p:grpSp>
      <p:grpSp>
        <p:nvGrpSpPr>
          <p:cNvPr id="5" name="Group 5"/>
          <p:cNvGrpSpPr/>
          <p:nvPr/>
        </p:nvGrpSpPr>
        <p:grpSpPr>
          <a:xfrm rot="0">
            <a:off x="4407799" y="1447762"/>
            <a:ext cx="1741618" cy="301019"/>
            <a:chOff x="0" y="0"/>
            <a:chExt cx="2322157" cy="401358"/>
          </a:xfrm>
        </p:grpSpPr>
        <p:sp>
          <p:nvSpPr>
            <p:cNvPr id="6" name="Freeform 6"/>
            <p:cNvSpPr/>
            <p:nvPr/>
          </p:nvSpPr>
          <p:spPr>
            <a:xfrm>
              <a:off x="0" y="0"/>
              <a:ext cx="2322195" cy="401320"/>
            </a:xfrm>
            <a:custGeom>
              <a:avLst/>
              <a:gdLst/>
              <a:ahLst/>
              <a:cxnLst/>
              <a:rect l="l" t="t" r="r" b="b"/>
              <a:pathLst>
                <a:path w="2322195" h="401320">
                  <a:moveTo>
                    <a:pt x="0" y="0"/>
                  </a:moveTo>
                  <a:lnTo>
                    <a:pt x="2322195" y="0"/>
                  </a:lnTo>
                  <a:lnTo>
                    <a:pt x="2322195" y="401320"/>
                  </a:lnTo>
                  <a:lnTo>
                    <a:pt x="0" y="401320"/>
                  </a:lnTo>
                  <a:lnTo>
                    <a:pt x="0" y="0"/>
                  </a:lnTo>
                  <a:close/>
                </a:path>
              </a:pathLst>
            </a:custGeom>
            <a:blipFill>
              <a:blip r:embed="rId3"/>
              <a:stretch>
                <a:fillRect r="1" b="-9"/>
              </a:stretch>
            </a:blipFill>
          </p:spPr>
        </p:sp>
      </p:grpSp>
      <p:grpSp>
        <p:nvGrpSpPr>
          <p:cNvPr id="7" name="Group 7"/>
          <p:cNvGrpSpPr/>
          <p:nvPr/>
        </p:nvGrpSpPr>
        <p:grpSpPr>
          <a:xfrm rot="0">
            <a:off x="6142253" y="1447762"/>
            <a:ext cx="946061" cy="301019"/>
            <a:chOff x="0" y="0"/>
            <a:chExt cx="1261415" cy="401358"/>
          </a:xfrm>
        </p:grpSpPr>
        <p:sp>
          <p:nvSpPr>
            <p:cNvPr id="8" name="Freeform 8"/>
            <p:cNvSpPr/>
            <p:nvPr/>
          </p:nvSpPr>
          <p:spPr>
            <a:xfrm>
              <a:off x="0" y="0"/>
              <a:ext cx="1261364" cy="401320"/>
            </a:xfrm>
            <a:custGeom>
              <a:avLst/>
              <a:gdLst/>
              <a:ahLst/>
              <a:cxnLst/>
              <a:rect l="l" t="t" r="r" b="b"/>
              <a:pathLst>
                <a:path w="1261364" h="401320">
                  <a:moveTo>
                    <a:pt x="0" y="0"/>
                  </a:moveTo>
                  <a:lnTo>
                    <a:pt x="1261364" y="0"/>
                  </a:lnTo>
                  <a:lnTo>
                    <a:pt x="1261364" y="401320"/>
                  </a:lnTo>
                  <a:lnTo>
                    <a:pt x="0" y="401320"/>
                  </a:lnTo>
                  <a:lnTo>
                    <a:pt x="0" y="0"/>
                  </a:lnTo>
                  <a:close/>
                </a:path>
              </a:pathLst>
            </a:custGeom>
            <a:blipFill>
              <a:blip r:embed="rId4"/>
              <a:stretch>
                <a:fillRect r="-4" b="-9"/>
              </a:stretch>
            </a:blipFill>
          </p:spPr>
        </p:sp>
      </p:grpSp>
      <p:grpSp>
        <p:nvGrpSpPr>
          <p:cNvPr id="9" name="Group 9"/>
          <p:cNvGrpSpPr/>
          <p:nvPr/>
        </p:nvGrpSpPr>
        <p:grpSpPr>
          <a:xfrm rot="0">
            <a:off x="3605079" y="2322157"/>
            <a:ext cx="673713" cy="150514"/>
            <a:chOff x="0" y="0"/>
            <a:chExt cx="898284" cy="200685"/>
          </a:xfrm>
        </p:grpSpPr>
        <p:sp>
          <p:nvSpPr>
            <p:cNvPr id="10" name="Freeform 10"/>
            <p:cNvSpPr/>
            <p:nvPr/>
          </p:nvSpPr>
          <p:spPr>
            <a:xfrm>
              <a:off x="0" y="0"/>
              <a:ext cx="898271" cy="200660"/>
            </a:xfrm>
            <a:custGeom>
              <a:avLst/>
              <a:gdLst/>
              <a:ahLst/>
              <a:cxnLst/>
              <a:rect l="l" t="t" r="r" b="b"/>
              <a:pathLst>
                <a:path w="898271" h="200660">
                  <a:moveTo>
                    <a:pt x="0" y="0"/>
                  </a:moveTo>
                  <a:lnTo>
                    <a:pt x="898271" y="0"/>
                  </a:lnTo>
                  <a:lnTo>
                    <a:pt x="898271" y="200660"/>
                  </a:lnTo>
                  <a:lnTo>
                    <a:pt x="0" y="200660"/>
                  </a:lnTo>
                  <a:lnTo>
                    <a:pt x="0" y="0"/>
                  </a:lnTo>
                  <a:close/>
                </a:path>
              </a:pathLst>
            </a:custGeom>
            <a:blipFill>
              <a:blip r:embed="rId5"/>
              <a:stretch>
                <a:fillRect r="-1" b="-12"/>
              </a:stretch>
            </a:blipFill>
          </p:spPr>
        </p:sp>
      </p:grpSp>
      <p:sp>
        <p:nvSpPr>
          <p:cNvPr id="11" name="TextBox 11"/>
          <p:cNvSpPr txBox="1"/>
          <p:nvPr/>
        </p:nvSpPr>
        <p:spPr>
          <a:xfrm>
            <a:off x="4320130" y="2238165"/>
            <a:ext cx="630907" cy="173888"/>
          </a:xfrm>
          <a:prstGeom prst="rect">
            <a:avLst/>
          </a:prstGeom>
        </p:spPr>
        <p:txBody>
          <a:bodyPr lIns="0" tIns="0" rIns="0" bIns="0" rtlCol="0" anchor="t">
            <a:spAutoFit/>
          </a:bodyPr>
          <a:lstStyle/>
          <a:p>
            <a:pPr algn="ctr">
              <a:lnSpc>
                <a:spcPts val="1340"/>
              </a:lnSpc>
            </a:pPr>
            <a:r>
              <a:rPr lang="en-US" sz="960" b="1">
                <a:solidFill>
                  <a:srgbClr val="B20000"/>
                </a:solidFill>
                <a:latin typeface="Cardo Bold" panose="02020804080000020003"/>
                <a:ea typeface="Cardo Bold" panose="02020804080000020003"/>
                <a:cs typeface="Cardo Bold" panose="02020804080000020003"/>
                <a:sym typeface="Cardo Bold" panose="02020804080000020003"/>
              </a:rPr>
              <a:t>DIPLOMA</a:t>
            </a:r>
            <a:endParaRPr lang="en-US" sz="960" b="1">
              <a:solidFill>
                <a:srgbClr val="B20000"/>
              </a:solidFill>
              <a:latin typeface="Cardo Bold" panose="02020804080000020003"/>
              <a:ea typeface="Cardo Bold" panose="02020804080000020003"/>
              <a:cs typeface="Cardo Bold" panose="02020804080000020003"/>
              <a:sym typeface="Cardo Bold" panose="02020804080000020003"/>
            </a:endParaRPr>
          </a:p>
        </p:txBody>
      </p:sp>
      <p:grpSp>
        <p:nvGrpSpPr>
          <p:cNvPr id="12" name="Group 12"/>
          <p:cNvGrpSpPr/>
          <p:nvPr/>
        </p:nvGrpSpPr>
        <p:grpSpPr>
          <a:xfrm rot="0">
            <a:off x="4945342" y="2178815"/>
            <a:ext cx="136179" cy="293856"/>
            <a:chOff x="0" y="0"/>
            <a:chExt cx="181572" cy="391808"/>
          </a:xfrm>
        </p:grpSpPr>
        <p:sp>
          <p:nvSpPr>
            <p:cNvPr id="13" name="Freeform 13"/>
            <p:cNvSpPr/>
            <p:nvPr/>
          </p:nvSpPr>
          <p:spPr>
            <a:xfrm>
              <a:off x="0" y="0"/>
              <a:ext cx="181610" cy="391795"/>
            </a:xfrm>
            <a:custGeom>
              <a:avLst/>
              <a:gdLst/>
              <a:ahLst/>
              <a:cxnLst/>
              <a:rect l="l" t="t" r="r" b="b"/>
              <a:pathLst>
                <a:path w="181610" h="391795">
                  <a:moveTo>
                    <a:pt x="0" y="0"/>
                  </a:moveTo>
                  <a:lnTo>
                    <a:pt x="181610" y="0"/>
                  </a:lnTo>
                  <a:lnTo>
                    <a:pt x="181610" y="391795"/>
                  </a:lnTo>
                  <a:lnTo>
                    <a:pt x="0" y="391795"/>
                  </a:lnTo>
                  <a:lnTo>
                    <a:pt x="0" y="0"/>
                  </a:lnTo>
                  <a:close/>
                </a:path>
              </a:pathLst>
            </a:custGeom>
            <a:blipFill>
              <a:blip r:embed="rId6"/>
              <a:stretch>
                <a:fillRect r="20" b="-3"/>
              </a:stretch>
            </a:blipFill>
          </p:spPr>
        </p:sp>
      </p:grpSp>
      <p:grpSp>
        <p:nvGrpSpPr>
          <p:cNvPr id="14" name="Group 14"/>
          <p:cNvGrpSpPr/>
          <p:nvPr/>
        </p:nvGrpSpPr>
        <p:grpSpPr>
          <a:xfrm rot="0">
            <a:off x="5740889" y="2178815"/>
            <a:ext cx="279521" cy="293856"/>
            <a:chOff x="0" y="0"/>
            <a:chExt cx="372694" cy="391808"/>
          </a:xfrm>
        </p:grpSpPr>
        <p:sp>
          <p:nvSpPr>
            <p:cNvPr id="15" name="Freeform 15"/>
            <p:cNvSpPr/>
            <p:nvPr/>
          </p:nvSpPr>
          <p:spPr>
            <a:xfrm>
              <a:off x="0" y="0"/>
              <a:ext cx="372745" cy="391795"/>
            </a:xfrm>
            <a:custGeom>
              <a:avLst/>
              <a:gdLst/>
              <a:ahLst/>
              <a:cxnLst/>
              <a:rect l="l" t="t" r="r" b="b"/>
              <a:pathLst>
                <a:path w="372745" h="391795">
                  <a:moveTo>
                    <a:pt x="0" y="0"/>
                  </a:moveTo>
                  <a:lnTo>
                    <a:pt x="372745" y="0"/>
                  </a:lnTo>
                  <a:lnTo>
                    <a:pt x="372745" y="391795"/>
                  </a:lnTo>
                  <a:lnTo>
                    <a:pt x="0" y="391795"/>
                  </a:lnTo>
                  <a:lnTo>
                    <a:pt x="0" y="0"/>
                  </a:lnTo>
                  <a:close/>
                </a:path>
              </a:pathLst>
            </a:custGeom>
            <a:blipFill>
              <a:blip r:embed="rId7"/>
              <a:stretch>
                <a:fillRect r="13" b="-3"/>
              </a:stretch>
            </a:blipFill>
          </p:spPr>
        </p:sp>
      </p:grpSp>
      <p:grpSp>
        <p:nvGrpSpPr>
          <p:cNvPr id="16" name="Group 16"/>
          <p:cNvGrpSpPr/>
          <p:nvPr/>
        </p:nvGrpSpPr>
        <p:grpSpPr>
          <a:xfrm rot="0">
            <a:off x="6414611" y="2322157"/>
            <a:ext cx="673713" cy="150514"/>
            <a:chOff x="0" y="0"/>
            <a:chExt cx="898284" cy="200685"/>
          </a:xfrm>
        </p:grpSpPr>
        <p:sp>
          <p:nvSpPr>
            <p:cNvPr id="17" name="Freeform 17"/>
            <p:cNvSpPr/>
            <p:nvPr/>
          </p:nvSpPr>
          <p:spPr>
            <a:xfrm>
              <a:off x="0" y="0"/>
              <a:ext cx="898271" cy="200660"/>
            </a:xfrm>
            <a:custGeom>
              <a:avLst/>
              <a:gdLst/>
              <a:ahLst/>
              <a:cxnLst/>
              <a:rect l="l" t="t" r="r" b="b"/>
              <a:pathLst>
                <a:path w="898271" h="200660">
                  <a:moveTo>
                    <a:pt x="0" y="0"/>
                  </a:moveTo>
                  <a:lnTo>
                    <a:pt x="898271" y="0"/>
                  </a:lnTo>
                  <a:lnTo>
                    <a:pt x="898271" y="200660"/>
                  </a:lnTo>
                  <a:lnTo>
                    <a:pt x="0" y="200660"/>
                  </a:lnTo>
                  <a:lnTo>
                    <a:pt x="0" y="0"/>
                  </a:lnTo>
                  <a:close/>
                </a:path>
              </a:pathLst>
            </a:custGeom>
            <a:blipFill>
              <a:blip r:embed="rId8"/>
              <a:stretch>
                <a:fillRect r="-1" b="-12"/>
              </a:stretch>
            </a:blipFill>
          </p:spPr>
        </p:sp>
      </p:grpSp>
      <p:grpSp>
        <p:nvGrpSpPr>
          <p:cNvPr id="18" name="Group 18"/>
          <p:cNvGrpSpPr/>
          <p:nvPr/>
        </p:nvGrpSpPr>
        <p:grpSpPr>
          <a:xfrm rot="0">
            <a:off x="955730" y="465679"/>
            <a:ext cx="732671" cy="867591"/>
            <a:chOff x="0" y="0"/>
            <a:chExt cx="4099611" cy="4854550"/>
          </a:xfrm>
        </p:grpSpPr>
        <p:sp>
          <p:nvSpPr>
            <p:cNvPr id="19" name="Freeform 19"/>
            <p:cNvSpPr/>
            <p:nvPr/>
          </p:nvSpPr>
          <p:spPr>
            <a:xfrm>
              <a:off x="0" y="0"/>
              <a:ext cx="4099560" cy="4854575"/>
            </a:xfrm>
            <a:custGeom>
              <a:avLst/>
              <a:gdLst/>
              <a:ahLst/>
              <a:cxnLst/>
              <a:rect l="l" t="t" r="r" b="b"/>
              <a:pathLst>
                <a:path w="4099560" h="4854575">
                  <a:moveTo>
                    <a:pt x="0" y="0"/>
                  </a:moveTo>
                  <a:lnTo>
                    <a:pt x="4099560" y="0"/>
                  </a:lnTo>
                  <a:lnTo>
                    <a:pt x="4099560" y="4854575"/>
                  </a:lnTo>
                  <a:lnTo>
                    <a:pt x="0" y="4854575"/>
                  </a:lnTo>
                  <a:lnTo>
                    <a:pt x="0" y="0"/>
                  </a:lnTo>
                  <a:close/>
                </a:path>
              </a:pathLst>
            </a:custGeom>
            <a:blipFill>
              <a:blip r:embed="rId9"/>
              <a:stretch>
                <a:fillRect l="-3850" r="-3850"/>
              </a:stretch>
            </a:blipFill>
          </p:spPr>
        </p:sp>
      </p:grpSp>
      <p:grpSp>
        <p:nvGrpSpPr>
          <p:cNvPr id="20" name="Group 20"/>
          <p:cNvGrpSpPr/>
          <p:nvPr/>
        </p:nvGrpSpPr>
        <p:grpSpPr>
          <a:xfrm rot="0">
            <a:off x="2673353" y="4208768"/>
            <a:ext cx="5217690" cy="150514"/>
            <a:chOff x="0" y="0"/>
            <a:chExt cx="6956920" cy="200685"/>
          </a:xfrm>
        </p:grpSpPr>
        <p:sp>
          <p:nvSpPr>
            <p:cNvPr id="21" name="Freeform 21"/>
            <p:cNvSpPr/>
            <p:nvPr/>
          </p:nvSpPr>
          <p:spPr>
            <a:xfrm>
              <a:off x="0" y="0"/>
              <a:ext cx="6956933" cy="200660"/>
            </a:xfrm>
            <a:custGeom>
              <a:avLst/>
              <a:gdLst/>
              <a:ahLst/>
              <a:cxnLst/>
              <a:rect l="l" t="t" r="r" b="b"/>
              <a:pathLst>
                <a:path w="6956933" h="200660">
                  <a:moveTo>
                    <a:pt x="0" y="0"/>
                  </a:moveTo>
                  <a:lnTo>
                    <a:pt x="6956933" y="0"/>
                  </a:lnTo>
                  <a:lnTo>
                    <a:pt x="6956933" y="200660"/>
                  </a:lnTo>
                  <a:lnTo>
                    <a:pt x="0" y="200660"/>
                  </a:lnTo>
                  <a:lnTo>
                    <a:pt x="0" y="0"/>
                  </a:lnTo>
                  <a:close/>
                </a:path>
              </a:pathLst>
            </a:custGeom>
            <a:blipFill>
              <a:blip r:embed="rId10"/>
              <a:stretch>
                <a:fillRect b="-12"/>
              </a:stretch>
            </a:blipFill>
          </p:spPr>
        </p:sp>
      </p:grpSp>
      <p:grpSp>
        <p:nvGrpSpPr>
          <p:cNvPr id="22" name="Group 22"/>
          <p:cNvGrpSpPr/>
          <p:nvPr/>
        </p:nvGrpSpPr>
        <p:grpSpPr>
          <a:xfrm rot="0">
            <a:off x="6713811" y="6488382"/>
            <a:ext cx="1263739" cy="759038"/>
            <a:chOff x="0" y="0"/>
            <a:chExt cx="1684985" cy="1012050"/>
          </a:xfrm>
        </p:grpSpPr>
        <p:sp>
          <p:nvSpPr>
            <p:cNvPr id="23" name="Freeform 23"/>
            <p:cNvSpPr/>
            <p:nvPr/>
          </p:nvSpPr>
          <p:spPr>
            <a:xfrm>
              <a:off x="0" y="0"/>
              <a:ext cx="1685036" cy="1012063"/>
            </a:xfrm>
            <a:custGeom>
              <a:avLst/>
              <a:gdLst/>
              <a:ahLst/>
              <a:cxnLst/>
              <a:rect l="l" t="t" r="r" b="b"/>
              <a:pathLst>
                <a:path w="1685036" h="1012063">
                  <a:moveTo>
                    <a:pt x="0" y="0"/>
                  </a:moveTo>
                  <a:lnTo>
                    <a:pt x="1685036" y="0"/>
                  </a:lnTo>
                  <a:lnTo>
                    <a:pt x="1685036" y="1012063"/>
                  </a:lnTo>
                  <a:lnTo>
                    <a:pt x="0" y="1012063"/>
                  </a:lnTo>
                  <a:lnTo>
                    <a:pt x="0" y="0"/>
                  </a:lnTo>
                  <a:close/>
                </a:path>
              </a:pathLst>
            </a:custGeom>
            <a:blipFill>
              <a:blip r:embed="rId11"/>
              <a:stretch>
                <a:fillRect t="-121" r="3" b="-119"/>
              </a:stretch>
            </a:blipFill>
          </p:spPr>
        </p:sp>
      </p:grpSp>
      <p:grpSp>
        <p:nvGrpSpPr>
          <p:cNvPr id="24" name="Group 24"/>
          <p:cNvGrpSpPr/>
          <p:nvPr/>
        </p:nvGrpSpPr>
        <p:grpSpPr>
          <a:xfrm rot="0">
            <a:off x="3157357" y="6435033"/>
            <a:ext cx="1077982" cy="947195"/>
            <a:chOff x="0" y="0"/>
            <a:chExt cx="1437310" cy="1262926"/>
          </a:xfrm>
        </p:grpSpPr>
        <p:sp>
          <p:nvSpPr>
            <p:cNvPr id="25" name="Freeform 25"/>
            <p:cNvSpPr/>
            <p:nvPr/>
          </p:nvSpPr>
          <p:spPr>
            <a:xfrm>
              <a:off x="0" y="0"/>
              <a:ext cx="1437259" cy="1262888"/>
            </a:xfrm>
            <a:custGeom>
              <a:avLst/>
              <a:gdLst/>
              <a:ahLst/>
              <a:cxnLst/>
              <a:rect l="l" t="t" r="r" b="b"/>
              <a:pathLst>
                <a:path w="1437259" h="1262888">
                  <a:moveTo>
                    <a:pt x="0" y="0"/>
                  </a:moveTo>
                  <a:lnTo>
                    <a:pt x="1437259" y="0"/>
                  </a:lnTo>
                  <a:lnTo>
                    <a:pt x="1437259" y="1262888"/>
                  </a:lnTo>
                  <a:lnTo>
                    <a:pt x="0" y="1262888"/>
                  </a:lnTo>
                  <a:lnTo>
                    <a:pt x="0" y="0"/>
                  </a:lnTo>
                  <a:close/>
                </a:path>
              </a:pathLst>
            </a:custGeom>
            <a:blipFill>
              <a:blip r:embed="rId12"/>
              <a:stretch>
                <a:fillRect l="-83" r="-88" b="-3"/>
              </a:stretch>
            </a:blipFill>
          </p:spPr>
        </p:sp>
      </p:grpSp>
      <p:sp>
        <p:nvSpPr>
          <p:cNvPr id="26" name="Freeform 26"/>
          <p:cNvSpPr/>
          <p:nvPr/>
        </p:nvSpPr>
        <p:spPr>
          <a:xfrm>
            <a:off x="8052568" y="379714"/>
            <a:ext cx="752572" cy="752572"/>
          </a:xfrm>
          <a:custGeom>
            <a:avLst/>
            <a:gdLst/>
            <a:ahLst/>
            <a:cxnLst/>
            <a:rect l="l" t="t" r="r" b="b"/>
            <a:pathLst>
              <a:path w="752572" h="752572">
                <a:moveTo>
                  <a:pt x="0" y="0"/>
                </a:moveTo>
                <a:lnTo>
                  <a:pt x="752572" y="0"/>
                </a:lnTo>
                <a:lnTo>
                  <a:pt x="752572" y="752572"/>
                </a:lnTo>
                <a:lnTo>
                  <a:pt x="0" y="752572"/>
                </a:lnTo>
                <a:lnTo>
                  <a:pt x="0" y="0"/>
                </a:lnTo>
                <a:close/>
              </a:path>
            </a:pathLst>
          </a:custGeom>
          <a:blipFill>
            <a:blip r:embed="rId13"/>
            <a:stretch>
              <a:fillRect/>
            </a:stretch>
          </a:blipFill>
        </p:spPr>
      </p:sp>
      <p:sp>
        <p:nvSpPr>
          <p:cNvPr id="27" name="Freeform 27"/>
          <p:cNvSpPr/>
          <p:nvPr/>
        </p:nvSpPr>
        <p:spPr>
          <a:xfrm>
            <a:off x="1877461" y="516821"/>
            <a:ext cx="853127" cy="722310"/>
          </a:xfrm>
          <a:custGeom>
            <a:avLst/>
            <a:gdLst/>
            <a:ahLst/>
            <a:cxnLst/>
            <a:rect l="l" t="t" r="r" b="b"/>
            <a:pathLst>
              <a:path w="853127" h="722310">
                <a:moveTo>
                  <a:pt x="0" y="0"/>
                </a:moveTo>
                <a:lnTo>
                  <a:pt x="853127" y="0"/>
                </a:lnTo>
                <a:lnTo>
                  <a:pt x="853127" y="722311"/>
                </a:lnTo>
                <a:lnTo>
                  <a:pt x="0" y="722311"/>
                </a:lnTo>
                <a:lnTo>
                  <a:pt x="0" y="0"/>
                </a:lnTo>
                <a:close/>
              </a:path>
            </a:pathLst>
          </a:custGeom>
          <a:blipFill>
            <a:blip r:embed="rId14"/>
            <a:stretch>
              <a:fillRect/>
            </a:stretch>
          </a:blipFill>
        </p:spPr>
      </p:sp>
      <p:sp>
        <p:nvSpPr>
          <p:cNvPr id="28" name="Freeform 28"/>
          <p:cNvSpPr/>
          <p:nvPr/>
        </p:nvSpPr>
        <p:spPr>
          <a:xfrm>
            <a:off x="955730" y="1529822"/>
            <a:ext cx="773426" cy="817169"/>
          </a:xfrm>
          <a:custGeom>
            <a:avLst/>
            <a:gdLst/>
            <a:ahLst/>
            <a:cxnLst/>
            <a:rect l="l" t="t" r="r" b="b"/>
            <a:pathLst>
              <a:path w="773426" h="817169">
                <a:moveTo>
                  <a:pt x="0" y="0"/>
                </a:moveTo>
                <a:lnTo>
                  <a:pt x="773426" y="0"/>
                </a:lnTo>
                <a:lnTo>
                  <a:pt x="773426" y="817169"/>
                </a:lnTo>
                <a:lnTo>
                  <a:pt x="0" y="817169"/>
                </a:lnTo>
                <a:lnTo>
                  <a:pt x="0" y="0"/>
                </a:lnTo>
                <a:close/>
              </a:path>
            </a:pathLst>
          </a:custGeom>
          <a:blipFill>
            <a:blip r:embed="rId15"/>
            <a:stretch>
              <a:fillRect/>
            </a:stretch>
          </a:blipFill>
        </p:spPr>
      </p:sp>
      <p:sp>
        <p:nvSpPr>
          <p:cNvPr id="29" name="Freeform 29"/>
          <p:cNvSpPr/>
          <p:nvPr/>
        </p:nvSpPr>
        <p:spPr>
          <a:xfrm>
            <a:off x="8289047" y="1315007"/>
            <a:ext cx="1100195" cy="623400"/>
          </a:xfrm>
          <a:custGeom>
            <a:avLst/>
            <a:gdLst/>
            <a:ahLst/>
            <a:cxnLst/>
            <a:rect l="l" t="t" r="r" b="b"/>
            <a:pathLst>
              <a:path w="1100195" h="623400">
                <a:moveTo>
                  <a:pt x="0" y="0"/>
                </a:moveTo>
                <a:lnTo>
                  <a:pt x="1100195" y="0"/>
                </a:lnTo>
                <a:lnTo>
                  <a:pt x="1100195" y="623400"/>
                </a:lnTo>
                <a:lnTo>
                  <a:pt x="0" y="623400"/>
                </a:lnTo>
                <a:lnTo>
                  <a:pt x="0" y="0"/>
                </a:lnTo>
                <a:close/>
              </a:path>
            </a:pathLst>
          </a:custGeom>
          <a:blipFill>
            <a:blip r:embed="rId16"/>
            <a:stretch>
              <a:fillRect/>
            </a:stretch>
          </a:blipFill>
        </p:spPr>
      </p:sp>
      <p:sp>
        <p:nvSpPr>
          <p:cNvPr id="30" name="Freeform 30"/>
          <p:cNvSpPr/>
          <p:nvPr/>
        </p:nvSpPr>
        <p:spPr>
          <a:xfrm>
            <a:off x="8898646" y="379714"/>
            <a:ext cx="752572" cy="752572"/>
          </a:xfrm>
          <a:custGeom>
            <a:avLst/>
            <a:gdLst/>
            <a:ahLst/>
            <a:cxnLst/>
            <a:rect l="l" t="t" r="r" b="b"/>
            <a:pathLst>
              <a:path w="752572" h="752572">
                <a:moveTo>
                  <a:pt x="0" y="0"/>
                </a:moveTo>
                <a:lnTo>
                  <a:pt x="752572" y="0"/>
                </a:lnTo>
                <a:lnTo>
                  <a:pt x="752572" y="752572"/>
                </a:lnTo>
                <a:lnTo>
                  <a:pt x="0" y="752572"/>
                </a:lnTo>
                <a:lnTo>
                  <a:pt x="0" y="0"/>
                </a:lnTo>
                <a:close/>
              </a:path>
            </a:pathLst>
          </a:custGeom>
          <a:blipFill>
            <a:blip r:embed="rId17"/>
            <a:stretch>
              <a:fillRect/>
            </a:stretch>
          </a:blipFill>
        </p:spPr>
      </p:sp>
      <p:sp>
        <p:nvSpPr>
          <p:cNvPr id="31" name="TextBox 31"/>
          <p:cNvSpPr txBox="1"/>
          <p:nvPr/>
        </p:nvSpPr>
        <p:spPr>
          <a:xfrm>
            <a:off x="2577113" y="2311689"/>
            <a:ext cx="5656812" cy="896226"/>
          </a:xfrm>
          <a:prstGeom prst="rect">
            <a:avLst/>
          </a:prstGeom>
        </p:spPr>
        <p:txBody>
          <a:bodyPr lIns="0" tIns="0" rIns="0" bIns="0" rtlCol="0" anchor="t">
            <a:spAutoFit/>
          </a:bodyPr>
          <a:lstStyle/>
          <a:p>
            <a:pPr algn="ctr">
              <a:lnSpc>
                <a:spcPts val="6680"/>
              </a:lnSpc>
            </a:pPr>
            <a:r>
              <a:rPr lang="en-US" sz="4770" b="1" spc="715">
                <a:solidFill>
                  <a:srgbClr val="0D1E4A"/>
                </a:solidFill>
                <a:latin typeface="Cardo Bold" panose="02020804080000020003"/>
                <a:ea typeface="Cardo Bold" panose="02020804080000020003"/>
                <a:cs typeface="Cardo Bold" panose="02020804080000020003"/>
                <a:sym typeface="Cardo Bold" panose="02020804080000020003"/>
              </a:rPr>
              <a:t>CERTIFICATE</a:t>
            </a:r>
            <a:endParaRPr lang="en-US" sz="4770" b="1" spc="715">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2" name="TextBox 32"/>
          <p:cNvSpPr txBox="1"/>
          <p:nvPr/>
        </p:nvSpPr>
        <p:spPr>
          <a:xfrm>
            <a:off x="1832400" y="4461562"/>
            <a:ext cx="7239781" cy="1739389"/>
          </a:xfrm>
          <a:prstGeom prst="rect">
            <a:avLst/>
          </a:prstGeom>
        </p:spPr>
        <p:txBody>
          <a:bodyPr lIns="0" tIns="0" rIns="0" bIns="0" rtlCol="0" anchor="t">
            <a:spAutoFit/>
          </a:bodyPr>
          <a:lstStyle/>
          <a:p>
            <a:pPr algn="ctr">
              <a:lnSpc>
                <a:spcPts val="1795"/>
              </a:lnSpc>
            </a:pPr>
            <a:r>
              <a:rPr lang="en-US" sz="1280">
                <a:solidFill>
                  <a:srgbClr val="0D1E4A"/>
                </a:solidFill>
                <a:latin typeface="Cardo" panose="02020600000000000000"/>
                <a:ea typeface="Cardo" panose="02020600000000000000"/>
                <a:cs typeface="Cardo" panose="02020600000000000000"/>
                <a:sym typeface="Cardo" panose="02020600000000000000"/>
              </a:rPr>
              <a:t>has successfully participated in the </a:t>
            </a:r>
            <a:r>
              <a:rPr lang="en-US" sz="1280">
                <a:solidFill>
                  <a:srgbClr val="0D1E4A"/>
                </a:solidFill>
                <a:latin typeface="Cardo" panose="02020600000000000000"/>
                <a:ea typeface="Cardo" panose="02020600000000000000"/>
                <a:cs typeface="Cardo" panose="02020600000000000000"/>
                <a:sym typeface="Cardo" panose="02020600000000000000"/>
              </a:rPr>
              <a:t>{{EVENT NAME}}</a:t>
            </a:r>
            <a:r>
              <a:rPr lang="en-US" sz="1280">
                <a:solidFill>
                  <a:srgbClr val="0D1E4A"/>
                </a:solidFill>
                <a:latin typeface="Cardo" panose="02020600000000000000"/>
                <a:ea typeface="Cardo" panose="02020600000000000000"/>
                <a:cs typeface="Cardo" panose="02020600000000000000"/>
                <a:sym typeface="Cardo" panose="02020600000000000000"/>
              </a:rPr>
              <a:t> organized by </a:t>
            </a:r>
            <a:r>
              <a:rPr lang="en-US" sz="1280">
                <a:solidFill>
                  <a:srgbClr val="0D1E4A"/>
                </a:solidFill>
                <a:latin typeface="Cardo" panose="02020600000000000000"/>
                <a:ea typeface="Cardo" panose="02020600000000000000"/>
                <a:cs typeface="Cardo" panose="02020600000000000000"/>
                <a:sym typeface="Cardo" panose="02020600000000000000"/>
              </a:rPr>
              <a:t>Trinity College of Engineering and Technology, Peddapalli,</a:t>
            </a:r>
            <a:r>
              <a:rPr lang="en-US" sz="1280">
                <a:solidFill>
                  <a:srgbClr val="0D1E4A"/>
                </a:solidFill>
                <a:latin typeface="Cardo" panose="02020600000000000000"/>
                <a:ea typeface="Cardo" panose="02020600000000000000"/>
                <a:cs typeface="Cardo" panose="02020600000000000000"/>
                <a:sym typeface="Cardo" panose="02020600000000000000"/>
              </a:rPr>
              <a:t> held on </a:t>
            </a:r>
            <a:r>
              <a:rPr lang="en-US" sz="1280">
                <a:solidFill>
                  <a:srgbClr val="0D1E4A"/>
                </a:solidFill>
                <a:latin typeface="Cardo" panose="02020600000000000000"/>
                <a:ea typeface="Cardo" panose="02020600000000000000"/>
                <a:cs typeface="Cardo" panose="02020600000000000000"/>
                <a:sym typeface="Cardo" panose="02020600000000000000"/>
              </a:rPr>
              <a:t>{{DATE}}.</a:t>
            </a:r>
            <a:endParaRPr lang="en-US" sz="1280">
              <a:solidFill>
                <a:srgbClr val="0D1E4A"/>
              </a:solidFill>
              <a:latin typeface="Cardo" panose="02020600000000000000"/>
              <a:ea typeface="Cardo" panose="02020600000000000000"/>
              <a:cs typeface="Cardo" panose="02020600000000000000"/>
              <a:sym typeface="Cardo" panose="02020600000000000000"/>
            </a:endParaRPr>
          </a:p>
          <a:p>
            <a:pPr algn="ctr">
              <a:lnSpc>
                <a:spcPts val="1795"/>
              </a:lnSpc>
            </a:pPr>
          </a:p>
          <a:p>
            <a:pPr algn="ctr">
              <a:lnSpc>
                <a:spcPts val="1795"/>
              </a:lnSpc>
            </a:pPr>
            <a:r>
              <a:rPr lang="en-US" sz="1280">
                <a:solidFill>
                  <a:srgbClr val="0D1E4A"/>
                </a:solidFill>
                <a:latin typeface="Cardo" panose="02020600000000000000"/>
                <a:ea typeface="Cardo" panose="02020600000000000000"/>
                <a:cs typeface="Cardo" panose="02020600000000000000"/>
                <a:sym typeface="Cardo" panose="02020600000000000000"/>
              </a:rPr>
              <a:t>Their enthusiastic participation, innovative spirit, and interest in research and development are sincerely appreciated. We congratulate them on their involvement and wish them continued success in their future academic and professional endeavors.</a:t>
            </a:r>
            <a:endParaRPr lang="en-US" sz="1280">
              <a:solidFill>
                <a:srgbClr val="0D1E4A"/>
              </a:solidFill>
              <a:latin typeface="Cardo" panose="02020600000000000000"/>
              <a:ea typeface="Cardo" panose="02020600000000000000"/>
              <a:cs typeface="Cardo" panose="02020600000000000000"/>
              <a:sym typeface="Cardo" panose="02020600000000000000"/>
            </a:endParaRPr>
          </a:p>
          <a:p>
            <a:pPr algn="ctr">
              <a:lnSpc>
                <a:spcPts val="1795"/>
              </a:lnSpc>
            </a:pPr>
          </a:p>
          <a:p>
            <a:pPr algn="ctr">
              <a:lnSpc>
                <a:spcPts val="1795"/>
              </a:lnSpc>
            </a:pPr>
          </a:p>
        </p:txBody>
      </p:sp>
      <p:grpSp>
        <p:nvGrpSpPr>
          <p:cNvPr id="33" name="Group 33"/>
          <p:cNvGrpSpPr/>
          <p:nvPr/>
        </p:nvGrpSpPr>
        <p:grpSpPr>
          <a:xfrm rot="0">
            <a:off x="4006444" y="5907181"/>
            <a:ext cx="2544337" cy="301019"/>
            <a:chOff x="0" y="0"/>
            <a:chExt cx="3392449" cy="401358"/>
          </a:xfrm>
        </p:grpSpPr>
        <p:sp>
          <p:nvSpPr>
            <p:cNvPr id="34" name="Freeform 34"/>
            <p:cNvSpPr/>
            <p:nvPr/>
          </p:nvSpPr>
          <p:spPr>
            <a:xfrm>
              <a:off x="0" y="0"/>
              <a:ext cx="3392424" cy="401320"/>
            </a:xfrm>
            <a:custGeom>
              <a:avLst/>
              <a:gdLst/>
              <a:ahLst/>
              <a:cxnLst/>
              <a:rect l="l" t="t" r="r" b="b"/>
              <a:pathLst>
                <a:path w="3392424" h="401320">
                  <a:moveTo>
                    <a:pt x="0" y="0"/>
                  </a:moveTo>
                  <a:lnTo>
                    <a:pt x="3392424" y="0"/>
                  </a:lnTo>
                  <a:lnTo>
                    <a:pt x="3392424" y="401320"/>
                  </a:lnTo>
                  <a:lnTo>
                    <a:pt x="0" y="401320"/>
                  </a:lnTo>
                  <a:lnTo>
                    <a:pt x="0" y="0"/>
                  </a:lnTo>
                  <a:close/>
                </a:path>
              </a:pathLst>
            </a:custGeom>
            <a:blipFill>
              <a:blip r:embed="rId18"/>
              <a:stretch>
                <a:fillRect b="-9"/>
              </a:stretch>
            </a:blipFill>
          </p:spPr>
        </p:sp>
      </p:grpSp>
      <p:sp>
        <p:nvSpPr>
          <p:cNvPr id="35" name="TextBox 35"/>
          <p:cNvSpPr txBox="1"/>
          <p:nvPr/>
        </p:nvSpPr>
        <p:spPr>
          <a:xfrm>
            <a:off x="3143860" y="6073782"/>
            <a:ext cx="4341524" cy="192681"/>
          </a:xfrm>
          <a:prstGeom prst="rect">
            <a:avLst/>
          </a:prstGeom>
        </p:spPr>
        <p:txBody>
          <a:bodyPr lIns="0" tIns="0" rIns="0" bIns="0" rtlCol="0" anchor="t">
            <a:spAutoFit/>
          </a:bodyPr>
          <a:lstStyle/>
          <a:p>
            <a:pPr algn="ctr">
              <a:lnSpc>
                <a:spcPts val="1490"/>
              </a:lnSpc>
            </a:pPr>
            <a:r>
              <a:rPr lang="en-US" sz="1065">
                <a:solidFill>
                  <a:srgbClr val="0D1E4A"/>
                </a:solidFill>
                <a:latin typeface="Cardo" panose="02020600000000000000"/>
                <a:ea typeface="Cardo" panose="02020600000000000000"/>
                <a:cs typeface="Cardo" panose="02020600000000000000"/>
                <a:sym typeface="Cardo" panose="02020600000000000000"/>
              </a:rPr>
              <a:t>We appreciate the innovative thinking, creativity and efforts demonstrated.</a:t>
            </a:r>
            <a:endParaRPr lang="en-US" sz="1065">
              <a:solidFill>
                <a:srgbClr val="0D1E4A"/>
              </a:solidFill>
              <a:latin typeface="Cardo" panose="02020600000000000000"/>
              <a:ea typeface="Cardo" panose="02020600000000000000"/>
              <a:cs typeface="Cardo" panose="02020600000000000000"/>
              <a:sym typeface="Cardo" panose="02020600000000000000"/>
            </a:endParaRPr>
          </a:p>
        </p:txBody>
      </p:sp>
      <p:sp>
        <p:nvSpPr>
          <p:cNvPr id="36" name="TextBox 36"/>
          <p:cNvSpPr txBox="1"/>
          <p:nvPr/>
        </p:nvSpPr>
        <p:spPr>
          <a:xfrm>
            <a:off x="3185084" y="3798573"/>
            <a:ext cx="4322274" cy="544935"/>
          </a:xfrm>
          <a:prstGeom prst="rect">
            <a:avLst/>
          </a:prstGeom>
        </p:spPr>
        <p:txBody>
          <a:bodyPr lIns="0" tIns="0" rIns="0" bIns="0" rtlCol="0" anchor="t">
            <a:spAutoFit/>
          </a:bodyPr>
          <a:lstStyle/>
          <a:p>
            <a:pPr algn="ctr">
              <a:lnSpc>
                <a:spcPts val="3655"/>
              </a:lnSpc>
            </a:pPr>
            <a:r>
              <a:rPr lang="en-US" sz="2405" b="1">
                <a:solidFill>
                  <a:srgbClr val="000000"/>
                </a:solidFill>
                <a:latin typeface="Cardo Bold" panose="02020804080000020003"/>
                <a:ea typeface="Cardo Bold" panose="02020804080000020003"/>
                <a:cs typeface="Cardo Bold" panose="02020804080000020003"/>
                <a:sym typeface="Cardo Bold" panose="02020804080000020003"/>
              </a:rPr>
              <a:t>{{PARTICIPANT NAME}} </a:t>
            </a:r>
            <a:endParaRPr lang="en-US" sz="2405" b="1">
              <a:solidFill>
                <a:srgbClr val="000000"/>
              </a:solidFill>
              <a:latin typeface="Cardo Bold" panose="02020804080000020003"/>
              <a:ea typeface="Cardo Bold" panose="02020804080000020003"/>
              <a:cs typeface="Cardo Bold" panose="02020804080000020003"/>
              <a:sym typeface="Cardo Bold" panose="02020804080000020003"/>
            </a:endParaRPr>
          </a:p>
        </p:txBody>
      </p:sp>
      <p:sp>
        <p:nvSpPr>
          <p:cNvPr id="37" name="TextBox 37"/>
          <p:cNvSpPr txBox="1"/>
          <p:nvPr/>
        </p:nvSpPr>
        <p:spPr>
          <a:xfrm>
            <a:off x="3507438" y="830351"/>
            <a:ext cx="3764080" cy="409165"/>
          </a:xfrm>
          <a:prstGeom prst="rect">
            <a:avLst/>
          </a:prstGeom>
        </p:spPr>
        <p:txBody>
          <a:bodyPr lIns="0" tIns="0" rIns="0" bIns="0" rtlCol="0" anchor="t">
            <a:spAutoFit/>
          </a:bodyPr>
          <a:lstStyle/>
          <a:p>
            <a:pPr algn="ctr">
              <a:lnSpc>
                <a:spcPts val="2985"/>
              </a:lnSpc>
            </a:pPr>
            <a:r>
              <a:rPr lang="en-US" sz="2135" b="1">
                <a:solidFill>
                  <a:srgbClr val="0D1E4A"/>
                </a:solidFill>
                <a:latin typeface="Bebas Neue Bold" panose="020B0606020202050201"/>
                <a:ea typeface="Bebas Neue Bold" panose="020B0606020202050201"/>
                <a:cs typeface="Bebas Neue Bold" panose="020B0606020202050201"/>
                <a:sym typeface="Bebas Neue Bold" panose="020B0606020202050201"/>
              </a:rPr>
              <a:t>COLLEGE OF ENGINEERING AND TECHNOLOGY</a:t>
            </a:r>
            <a:endParaRPr lang="en-US" sz="2135" b="1">
              <a:solidFill>
                <a:srgbClr val="0D1E4A"/>
              </a:solidFill>
              <a:latin typeface="Bebas Neue Bold" panose="020B0606020202050201"/>
              <a:ea typeface="Bebas Neue Bold" panose="020B0606020202050201"/>
              <a:cs typeface="Bebas Neue Bold" panose="020B0606020202050201"/>
              <a:sym typeface="Bebas Neue Bold" panose="020B0606020202050201"/>
            </a:endParaRPr>
          </a:p>
        </p:txBody>
      </p:sp>
      <p:sp>
        <p:nvSpPr>
          <p:cNvPr id="38" name="TextBox 38"/>
          <p:cNvSpPr txBox="1"/>
          <p:nvPr/>
        </p:nvSpPr>
        <p:spPr>
          <a:xfrm>
            <a:off x="4266667" y="1190349"/>
            <a:ext cx="2202837" cy="230267"/>
          </a:xfrm>
          <a:prstGeom prst="rect">
            <a:avLst/>
          </a:prstGeom>
        </p:spPr>
        <p:txBody>
          <a:bodyPr lIns="0" tIns="0" rIns="0" bIns="0" rtlCol="0" anchor="t">
            <a:spAutoFit/>
          </a:bodyPr>
          <a:lstStyle/>
          <a:p>
            <a:pPr algn="ctr">
              <a:lnSpc>
                <a:spcPts val="1790"/>
              </a:lnSpc>
            </a:pPr>
            <a:r>
              <a:rPr lang="en-US" sz="1280" b="1">
                <a:solidFill>
                  <a:srgbClr val="B20000"/>
                </a:solidFill>
                <a:latin typeface="Cardo Bold" panose="02020804080000020003"/>
                <a:ea typeface="Cardo Bold" panose="02020804080000020003"/>
                <a:cs typeface="Cardo Bold" panose="02020804080000020003"/>
                <a:sym typeface="Cardo Bold" panose="02020804080000020003"/>
              </a:rPr>
              <a:t>(An Autonomous Institution)</a:t>
            </a:r>
            <a:endParaRPr lang="en-US" sz="128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39" name="TextBox 39"/>
          <p:cNvSpPr txBox="1"/>
          <p:nvPr/>
        </p:nvSpPr>
        <p:spPr>
          <a:xfrm>
            <a:off x="4801333" y="1510497"/>
            <a:ext cx="1026566" cy="196139"/>
          </a:xfrm>
          <a:prstGeom prst="rect">
            <a:avLst/>
          </a:prstGeom>
        </p:spPr>
        <p:txBody>
          <a:bodyPr lIns="0" tIns="0" rIns="0" bIns="0" rtlCol="0" anchor="t">
            <a:spAutoFit/>
          </a:bodyPr>
          <a:lstStyle/>
          <a:p>
            <a:pPr algn="ctr">
              <a:lnSpc>
                <a:spcPts val="1565"/>
              </a:lnSpc>
            </a:pPr>
            <a:r>
              <a:rPr lang="en-US" sz="1115" b="1">
                <a:solidFill>
                  <a:srgbClr val="FFFFFF"/>
                </a:solidFill>
                <a:latin typeface="Cardo Bold" panose="02020804080000020003"/>
                <a:ea typeface="Cardo Bold" panose="02020804080000020003"/>
                <a:cs typeface="Cardo Bold" panose="02020804080000020003"/>
                <a:sym typeface="Cardo Bold" panose="02020804080000020003"/>
              </a:rPr>
              <a:t>PEDDAPALLI</a:t>
            </a:r>
            <a:endParaRPr lang="en-US" sz="1115" b="1">
              <a:solidFill>
                <a:srgbClr val="FFFFFF"/>
              </a:solidFill>
              <a:latin typeface="Cardo Bold" panose="02020804080000020003"/>
              <a:ea typeface="Cardo Bold" panose="02020804080000020003"/>
              <a:cs typeface="Cardo Bold" panose="02020804080000020003"/>
              <a:sym typeface="Cardo Bold" panose="02020804080000020003"/>
            </a:endParaRPr>
          </a:p>
        </p:txBody>
      </p:sp>
      <p:sp>
        <p:nvSpPr>
          <p:cNvPr id="40" name="TextBox 40"/>
          <p:cNvSpPr txBox="1"/>
          <p:nvPr/>
        </p:nvSpPr>
        <p:spPr>
          <a:xfrm>
            <a:off x="3186636" y="1741561"/>
            <a:ext cx="4320130" cy="437579"/>
          </a:xfrm>
          <a:prstGeom prst="rect">
            <a:avLst/>
          </a:prstGeom>
        </p:spPr>
        <p:txBody>
          <a:bodyPr lIns="0" tIns="0" rIns="0" bIns="0" rtlCol="0" anchor="t">
            <a:spAutoFit/>
          </a:bodyPr>
          <a:lstStyle/>
          <a:p>
            <a:pPr algn="ctr">
              <a:lnSpc>
                <a:spcPts val="1595"/>
              </a:lnSpc>
            </a:pPr>
            <a:r>
              <a:rPr lang="en-US" sz="1065" b="1">
                <a:solidFill>
                  <a:srgbClr val="0D1E4A"/>
                </a:solidFill>
                <a:latin typeface="Cardo Bold" panose="02020804080000020003"/>
                <a:ea typeface="Cardo Bold" panose="02020804080000020003"/>
                <a:cs typeface="Cardo Bold" panose="02020804080000020003"/>
                <a:sym typeface="Cardo Bold" panose="02020804080000020003"/>
              </a:rPr>
              <a:t>Approved by AICTE, Recognized by NAAC, Recognized under 2 (f) of UGC, Affiliate to JNTU, Hyderabad &amp; Affiliated to SBTET</a:t>
            </a:r>
            <a:endParaRPr lang="en-US" sz="106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1" name="TextBox 41"/>
          <p:cNvSpPr txBox="1"/>
          <p:nvPr/>
        </p:nvSpPr>
        <p:spPr>
          <a:xfrm>
            <a:off x="5186296" y="2224840"/>
            <a:ext cx="545363" cy="193358"/>
          </a:xfrm>
          <a:prstGeom prst="rect">
            <a:avLst/>
          </a:prstGeom>
        </p:spPr>
        <p:txBody>
          <a:bodyPr lIns="0" tIns="0" rIns="0" bIns="0" rtlCol="0" anchor="t">
            <a:spAutoFit/>
          </a:bodyPr>
          <a:lstStyle/>
          <a:p>
            <a:pPr algn="ctr">
              <a:lnSpc>
                <a:spcPts val="1450"/>
              </a:lnSpc>
            </a:pPr>
            <a:r>
              <a:rPr lang="en-US" sz="1040" b="1">
                <a:solidFill>
                  <a:srgbClr val="0D1E4A"/>
                </a:solidFill>
                <a:latin typeface="Cardo Bold" panose="02020804080000020003"/>
                <a:ea typeface="Cardo Bold" panose="02020804080000020003"/>
                <a:cs typeface="Cardo Bold" panose="02020804080000020003"/>
                <a:sym typeface="Cardo Bold" panose="02020804080000020003"/>
              </a:rPr>
              <a:t>B.TECH</a:t>
            </a:r>
            <a:endParaRPr lang="en-US" sz="104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2" name="TextBox 42"/>
          <p:cNvSpPr txBox="1"/>
          <p:nvPr/>
        </p:nvSpPr>
        <p:spPr>
          <a:xfrm>
            <a:off x="6020381" y="2220582"/>
            <a:ext cx="310105" cy="194710"/>
          </a:xfrm>
          <a:prstGeom prst="rect">
            <a:avLst/>
          </a:prstGeom>
        </p:spPr>
        <p:txBody>
          <a:bodyPr lIns="0" tIns="0" rIns="0" bIns="0" rtlCol="0" anchor="t">
            <a:spAutoFit/>
          </a:bodyPr>
          <a:lstStyle/>
          <a:p>
            <a:pPr algn="ctr">
              <a:lnSpc>
                <a:spcPts val="1375"/>
              </a:lnSpc>
            </a:pPr>
            <a:r>
              <a:rPr lang="en-US" sz="985" b="1">
                <a:solidFill>
                  <a:srgbClr val="B20000"/>
                </a:solidFill>
                <a:latin typeface="Cardo Bold" panose="02020804080000020003"/>
                <a:ea typeface="Cardo Bold" panose="02020804080000020003"/>
                <a:cs typeface="Cardo Bold" panose="02020804080000020003"/>
                <a:sym typeface="Cardo Bold" panose="02020804080000020003"/>
              </a:rPr>
              <a:t>MBA</a:t>
            </a:r>
            <a:endParaRPr lang="en-US" sz="985"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43" name="TextBox 43"/>
          <p:cNvSpPr txBox="1"/>
          <p:nvPr/>
        </p:nvSpPr>
        <p:spPr>
          <a:xfrm>
            <a:off x="4266667" y="233458"/>
            <a:ext cx="2523639" cy="666017"/>
          </a:xfrm>
          <a:prstGeom prst="rect">
            <a:avLst/>
          </a:prstGeom>
        </p:spPr>
        <p:txBody>
          <a:bodyPr lIns="0" tIns="0" rIns="0" bIns="0" rtlCol="0" anchor="t">
            <a:spAutoFit/>
          </a:bodyPr>
          <a:lstStyle/>
          <a:p>
            <a:pPr algn="ctr">
              <a:lnSpc>
                <a:spcPts val="4885"/>
              </a:lnSpc>
            </a:pPr>
            <a:r>
              <a:rPr lang="en-US" sz="3490" b="1" spc="523">
                <a:solidFill>
                  <a:srgbClr val="860000"/>
                </a:solidFill>
                <a:latin typeface="Cardo Bold" panose="02020804080000020003"/>
                <a:ea typeface="Cardo Bold" panose="02020804080000020003"/>
                <a:cs typeface="Cardo Bold" panose="02020804080000020003"/>
                <a:sym typeface="Cardo Bold" panose="02020804080000020003"/>
              </a:rPr>
              <a:t>TRINITY</a:t>
            </a:r>
            <a:endParaRPr lang="en-US" sz="3490" b="1" spc="523">
              <a:solidFill>
                <a:srgbClr val="860000"/>
              </a:solidFill>
              <a:latin typeface="Cardo Bold" panose="02020804080000020003"/>
              <a:ea typeface="Cardo Bold" panose="02020804080000020003"/>
              <a:cs typeface="Cardo Bold" panose="02020804080000020003"/>
              <a:sym typeface="Cardo Bold" panose="02020804080000020003"/>
            </a:endParaRPr>
          </a:p>
        </p:txBody>
      </p:sp>
      <p:sp>
        <p:nvSpPr>
          <p:cNvPr id="44" name="TextBox 44"/>
          <p:cNvSpPr txBox="1"/>
          <p:nvPr/>
        </p:nvSpPr>
        <p:spPr>
          <a:xfrm>
            <a:off x="4341524" y="3352342"/>
            <a:ext cx="1882035" cy="256380"/>
          </a:xfrm>
          <a:prstGeom prst="rect">
            <a:avLst/>
          </a:prstGeom>
        </p:spPr>
        <p:txBody>
          <a:bodyPr lIns="0" tIns="0" rIns="0" bIns="0" rtlCol="0" anchor="t">
            <a:spAutoFit/>
          </a:bodyPr>
          <a:lstStyle/>
          <a:p>
            <a:pPr algn="ctr">
              <a:lnSpc>
                <a:spcPts val="2125"/>
              </a:lnSpc>
            </a:pPr>
            <a:r>
              <a:rPr lang="en-US" sz="1515">
                <a:solidFill>
                  <a:srgbClr val="0D1E4A"/>
                </a:solidFill>
                <a:latin typeface="Cardo" panose="02020600000000000000"/>
                <a:ea typeface="Cardo" panose="02020600000000000000"/>
                <a:cs typeface="Cardo" panose="02020600000000000000"/>
                <a:sym typeface="Cardo" panose="02020600000000000000"/>
              </a:rPr>
              <a:t>This is to certify that</a:t>
            </a:r>
            <a:endParaRPr lang="en-US" sz="1515">
              <a:solidFill>
                <a:srgbClr val="0D1E4A"/>
              </a:solidFill>
              <a:latin typeface="Cardo" panose="02020600000000000000"/>
              <a:ea typeface="Cardo" panose="02020600000000000000"/>
              <a:cs typeface="Cardo" panose="02020600000000000000"/>
              <a:sym typeface="Cardo" panose="02020600000000000000"/>
            </a:endParaRPr>
          </a:p>
        </p:txBody>
      </p:sp>
      <p:sp>
        <p:nvSpPr>
          <p:cNvPr id="45" name="TextBox 45"/>
          <p:cNvSpPr txBox="1"/>
          <p:nvPr/>
        </p:nvSpPr>
        <p:spPr>
          <a:xfrm>
            <a:off x="4052802" y="6264368"/>
            <a:ext cx="2470175" cy="173888"/>
          </a:xfrm>
          <a:prstGeom prst="rect">
            <a:avLst/>
          </a:prstGeom>
        </p:spPr>
        <p:txBody>
          <a:bodyPr lIns="0" tIns="0" rIns="0" bIns="0" rtlCol="0" anchor="t">
            <a:spAutoFit/>
          </a:bodyPr>
          <a:lstStyle/>
          <a:p>
            <a:pPr algn="ctr">
              <a:lnSpc>
                <a:spcPts val="1340"/>
              </a:lnSpc>
            </a:pPr>
            <a:r>
              <a:rPr lang="en-US" sz="960" b="1">
                <a:solidFill>
                  <a:srgbClr val="B20000"/>
                </a:solidFill>
                <a:latin typeface="Cardo Bold" panose="02020804080000020003"/>
                <a:ea typeface="Cardo Bold" panose="02020804080000020003"/>
                <a:cs typeface="Cardo Bold" panose="02020804080000020003"/>
                <a:sym typeface="Cardo Bold" panose="02020804080000020003"/>
              </a:rPr>
              <a:t>IDEAS TODAY, IMPACT TOMORROW.</a:t>
            </a:r>
            <a:endParaRPr lang="en-US" sz="96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46" name="TextBox 46"/>
          <p:cNvSpPr txBox="1"/>
          <p:nvPr/>
        </p:nvSpPr>
        <p:spPr>
          <a:xfrm>
            <a:off x="3041266" y="6916845"/>
            <a:ext cx="1366056" cy="142799"/>
          </a:xfrm>
          <a:prstGeom prst="rect">
            <a:avLst/>
          </a:prstGeom>
        </p:spPr>
        <p:txBody>
          <a:bodyPr lIns="0" tIns="0" rIns="0" bIns="0" rtlCol="0" anchor="t">
            <a:spAutoFit/>
          </a:bodyPr>
          <a:lstStyle/>
          <a:p>
            <a:pPr algn="ctr">
              <a:lnSpc>
                <a:spcPts val="965"/>
              </a:lnSpc>
            </a:pPr>
            <a:r>
              <a:rPr lang="en-US" sz="690" b="1">
                <a:solidFill>
                  <a:srgbClr val="0D1E4A"/>
                </a:solidFill>
                <a:latin typeface="Cardo Bold" panose="02020804080000020003"/>
                <a:ea typeface="Cardo Bold" panose="02020804080000020003"/>
                <a:cs typeface="Cardo Bold" panose="02020804080000020003"/>
                <a:sym typeface="Cardo Bold" panose="02020804080000020003"/>
              </a:rPr>
              <a:t>R&amp;D CHEF CO ORDINATOR</a:t>
            </a:r>
            <a:endParaRPr lang="en-US" sz="69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7" name="TextBox 47"/>
          <p:cNvSpPr txBox="1"/>
          <p:nvPr/>
        </p:nvSpPr>
        <p:spPr>
          <a:xfrm>
            <a:off x="6993484" y="6906749"/>
            <a:ext cx="556060" cy="143475"/>
          </a:xfrm>
          <a:prstGeom prst="rect">
            <a:avLst/>
          </a:prstGeom>
        </p:spPr>
        <p:txBody>
          <a:bodyPr lIns="0" tIns="0" rIns="0" bIns="0" rtlCol="0" anchor="t">
            <a:spAutoFit/>
          </a:bodyPr>
          <a:lstStyle/>
          <a:p>
            <a:pPr algn="ctr">
              <a:lnSpc>
                <a:spcPts val="1040"/>
              </a:lnSpc>
            </a:pPr>
            <a:r>
              <a:rPr lang="en-US" sz="745" b="1">
                <a:solidFill>
                  <a:srgbClr val="0D1E4A"/>
                </a:solidFill>
                <a:latin typeface="Cardo Bold" panose="02020804080000020003"/>
                <a:ea typeface="Cardo Bold" panose="02020804080000020003"/>
                <a:cs typeface="Cardo Bold" panose="02020804080000020003"/>
                <a:sym typeface="Cardo Bold" panose="02020804080000020003"/>
              </a:rPr>
              <a:t>PRINCIPAL</a:t>
            </a:r>
            <a:endParaRPr lang="en-US" sz="74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8" name="TextBox 48"/>
          <p:cNvSpPr txBox="1"/>
          <p:nvPr/>
        </p:nvSpPr>
        <p:spPr>
          <a:xfrm>
            <a:off x="4539310" y="7240114"/>
            <a:ext cx="2035254" cy="133350"/>
          </a:xfrm>
          <a:prstGeom prst="rect">
            <a:avLst/>
          </a:prstGeom>
        </p:spPr>
        <p:txBody>
          <a:bodyPr lIns="0" tIns="0" rIns="0" bIns="0" rtlCol="0" anchor="t">
            <a:spAutoFit/>
          </a:bodyPr>
          <a:lstStyle/>
          <a:p>
            <a:pPr algn="ctr">
              <a:lnSpc>
                <a:spcPts val="1085"/>
              </a:lnSpc>
            </a:pPr>
            <a:r>
              <a:rPr lang="en-US" sz="900" b="1">
                <a:solidFill>
                  <a:srgbClr val="C00000"/>
                </a:solidFill>
                <a:latin typeface="Cardo Bold" panose="02020804080000020003"/>
                <a:ea typeface="Cardo Bold" panose="02020804080000020003"/>
                <a:cs typeface="Cardo Bold" panose="02020804080000020003"/>
                <a:sym typeface="Cardo Bold" panose="02020804080000020003"/>
              </a:rPr>
              <a:t>Certificate ID : TCEK/RD/2026/H0001</a:t>
            </a:r>
            <a:endParaRPr lang="en-US" sz="900" b="1">
              <a:solidFill>
                <a:srgbClr val="C00000"/>
              </a:solidFill>
              <a:latin typeface="Cardo Bold" panose="02020804080000020003"/>
              <a:ea typeface="Cardo Bold" panose="02020804080000020003"/>
              <a:cs typeface="Cardo Bold" panose="02020804080000020003"/>
              <a:sym typeface="Cardo Bold" panose="02020804080000020003"/>
            </a:endParaRPr>
          </a:p>
        </p:txBody>
      </p:sp>
      <p:grpSp>
        <p:nvGrpSpPr>
          <p:cNvPr id="49" name="Group 49"/>
          <p:cNvGrpSpPr/>
          <p:nvPr/>
        </p:nvGrpSpPr>
        <p:grpSpPr>
          <a:xfrm rot="0">
            <a:off x="4505869" y="3011380"/>
            <a:ext cx="1497873" cy="236782"/>
            <a:chOff x="0" y="0"/>
            <a:chExt cx="2538971" cy="401358"/>
          </a:xfrm>
        </p:grpSpPr>
        <p:sp>
          <p:nvSpPr>
            <p:cNvPr id="50" name="Freeform 50"/>
            <p:cNvSpPr/>
            <p:nvPr/>
          </p:nvSpPr>
          <p:spPr>
            <a:xfrm>
              <a:off x="0" y="0"/>
              <a:ext cx="2539010" cy="401320"/>
            </a:xfrm>
            <a:custGeom>
              <a:avLst/>
              <a:gdLst/>
              <a:ahLst/>
              <a:cxnLst/>
              <a:rect l="l" t="t" r="r" b="b"/>
              <a:pathLst>
                <a:path w="2539010" h="401320">
                  <a:moveTo>
                    <a:pt x="0" y="0"/>
                  </a:moveTo>
                  <a:lnTo>
                    <a:pt x="2539010" y="0"/>
                  </a:lnTo>
                  <a:lnTo>
                    <a:pt x="2539010" y="401320"/>
                  </a:lnTo>
                  <a:lnTo>
                    <a:pt x="0" y="401320"/>
                  </a:lnTo>
                  <a:lnTo>
                    <a:pt x="0" y="0"/>
                  </a:lnTo>
                  <a:close/>
                </a:path>
              </a:pathLst>
            </a:custGeom>
            <a:blipFill>
              <a:blip r:embed="rId3"/>
              <a:stretch>
                <a:fillRect l="-1" t="-4670" b="-4680"/>
              </a:stretch>
            </a:blipFill>
          </p:spPr>
        </p:sp>
      </p:grpSp>
      <p:sp>
        <p:nvSpPr>
          <p:cNvPr id="51" name="TextBox 51"/>
          <p:cNvSpPr txBox="1"/>
          <p:nvPr/>
        </p:nvSpPr>
        <p:spPr>
          <a:xfrm>
            <a:off x="4726682" y="3022090"/>
            <a:ext cx="1122415" cy="171548"/>
          </a:xfrm>
          <a:prstGeom prst="rect">
            <a:avLst/>
          </a:prstGeom>
        </p:spPr>
        <p:txBody>
          <a:bodyPr lIns="0" tIns="0" rIns="0" bIns="0" rtlCol="0" anchor="t">
            <a:spAutoFit/>
          </a:bodyPr>
          <a:lstStyle/>
          <a:p>
            <a:pPr algn="ctr">
              <a:lnSpc>
                <a:spcPts val="1565"/>
              </a:lnSpc>
            </a:pPr>
            <a:r>
              <a:rPr lang="en-US" sz="1115" b="1">
                <a:solidFill>
                  <a:srgbClr val="FFFFFF"/>
                </a:solidFill>
                <a:latin typeface="Cardo Bold" panose="02020804080000020003"/>
                <a:ea typeface="Cardo Bold" panose="02020804080000020003"/>
                <a:cs typeface="Cardo Bold" panose="02020804080000020003"/>
                <a:sym typeface="Cardo Bold" panose="02020804080000020003"/>
              </a:rPr>
              <a:t>for participation</a:t>
            </a:r>
            <a:r>
              <a:rPr lang="en-US" sz="1115" b="1">
                <a:solidFill>
                  <a:srgbClr val="FFFFFF"/>
                </a:solidFill>
                <a:latin typeface="Cardo Bold" panose="02020804080000020003"/>
                <a:ea typeface="Cardo Bold" panose="02020804080000020003"/>
                <a:cs typeface="Cardo Bold" panose="02020804080000020003"/>
                <a:sym typeface="Cardo Bold" panose="02020804080000020003"/>
              </a:rPr>
              <a:t> </a:t>
            </a:r>
            <a:endParaRPr lang="en-US" sz="1115" b="1">
              <a:solidFill>
                <a:srgbClr val="FFFFFF"/>
              </a:solidFill>
              <a:latin typeface="Cardo Bold" panose="02020804080000020003"/>
              <a:ea typeface="Cardo Bold" panose="02020804080000020003"/>
              <a:cs typeface="Cardo Bold" panose="02020804080000020003"/>
              <a:sym typeface="Cardo Bold" panose="02020804080000020003"/>
            </a:endParaRPr>
          </a:p>
        </p:txBody>
      </p:sp>
      <p:grpSp>
        <p:nvGrpSpPr>
          <p:cNvPr id="52" name="Group 52"/>
          <p:cNvGrpSpPr/>
          <p:nvPr/>
        </p:nvGrpSpPr>
        <p:grpSpPr>
          <a:xfrm rot="0">
            <a:off x="3666284" y="2979262"/>
            <a:ext cx="969300" cy="301019"/>
            <a:chOff x="0" y="0"/>
            <a:chExt cx="1292401" cy="401358"/>
          </a:xfrm>
        </p:grpSpPr>
        <p:sp>
          <p:nvSpPr>
            <p:cNvPr id="53" name="Freeform 53"/>
            <p:cNvSpPr/>
            <p:nvPr/>
          </p:nvSpPr>
          <p:spPr>
            <a:xfrm>
              <a:off x="0" y="0"/>
              <a:ext cx="1292348" cy="401320"/>
            </a:xfrm>
            <a:custGeom>
              <a:avLst/>
              <a:gdLst/>
              <a:ahLst/>
              <a:cxnLst/>
              <a:rect l="l" t="t" r="r" b="b"/>
              <a:pathLst>
                <a:path w="1292348" h="401320">
                  <a:moveTo>
                    <a:pt x="0" y="0"/>
                  </a:moveTo>
                  <a:lnTo>
                    <a:pt x="1292348" y="0"/>
                  </a:lnTo>
                  <a:lnTo>
                    <a:pt x="1292348" y="401320"/>
                  </a:lnTo>
                  <a:lnTo>
                    <a:pt x="0" y="401320"/>
                  </a:lnTo>
                  <a:lnTo>
                    <a:pt x="0" y="0"/>
                  </a:lnTo>
                  <a:close/>
                </a:path>
              </a:pathLst>
            </a:custGeom>
            <a:blipFill>
              <a:blip r:embed="rId2"/>
              <a:stretch>
                <a:fillRect t="-1228" r="-4" b="-1237"/>
              </a:stretch>
            </a:blipFill>
          </p:spPr>
        </p:sp>
      </p:grpSp>
      <p:grpSp>
        <p:nvGrpSpPr>
          <p:cNvPr id="54" name="Group 54"/>
          <p:cNvGrpSpPr/>
          <p:nvPr/>
        </p:nvGrpSpPr>
        <p:grpSpPr>
          <a:xfrm rot="0">
            <a:off x="5984854" y="2979262"/>
            <a:ext cx="969300" cy="301019"/>
            <a:chOff x="0" y="0"/>
            <a:chExt cx="1292401" cy="401358"/>
          </a:xfrm>
        </p:grpSpPr>
        <p:sp>
          <p:nvSpPr>
            <p:cNvPr id="55" name="Freeform 55"/>
            <p:cNvSpPr/>
            <p:nvPr/>
          </p:nvSpPr>
          <p:spPr>
            <a:xfrm>
              <a:off x="0" y="0"/>
              <a:ext cx="1292348" cy="401320"/>
            </a:xfrm>
            <a:custGeom>
              <a:avLst/>
              <a:gdLst/>
              <a:ahLst/>
              <a:cxnLst/>
              <a:rect l="l" t="t" r="r" b="b"/>
              <a:pathLst>
                <a:path w="1292348" h="401320">
                  <a:moveTo>
                    <a:pt x="0" y="0"/>
                  </a:moveTo>
                  <a:lnTo>
                    <a:pt x="1292348" y="0"/>
                  </a:lnTo>
                  <a:lnTo>
                    <a:pt x="1292348" y="401320"/>
                  </a:lnTo>
                  <a:lnTo>
                    <a:pt x="0" y="401320"/>
                  </a:lnTo>
                  <a:lnTo>
                    <a:pt x="0" y="0"/>
                  </a:lnTo>
                  <a:close/>
                </a:path>
              </a:pathLst>
            </a:custGeom>
            <a:blipFill>
              <a:blip r:embed="rId4"/>
              <a:stretch>
                <a:fillRect t="-1228" r="-4" b="-1237"/>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847</Words>
  <Application>WPS Presentation</Application>
  <PresentationFormat>On-screen Show (4:3)</PresentationFormat>
  <Paragraphs>40</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SimSun</vt:lpstr>
      <vt:lpstr>Wingdings</vt:lpstr>
      <vt:lpstr>Cardo Bold</vt:lpstr>
      <vt:lpstr>Cardo</vt:lpstr>
      <vt:lpstr>Bebas Neue Bold</vt:lpstr>
      <vt:lpstr>Calibri</vt:lpstr>
      <vt:lpstr>Microsoft YaHei</vt:lpstr>
      <vt:lpstr>Arial Unicode MS</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CERTIFICATE_TEMPLATE - hackathon.pptx</dc:title>
  <dc:creator/>
  <cp:lastModifiedBy>Saicharan Bhuthkuri</cp:lastModifiedBy>
  <cp:revision>5</cp:revision>
  <dcterms:created xsi:type="dcterms:W3CDTF">2006-08-16T00:00:00Z</dcterms:created>
  <dcterms:modified xsi:type="dcterms:W3CDTF">2026-09-09T03:07:49Z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952C628C1D274A4F8A0BA40962B158B0_12</vt:lpwstr>
  </property>
  <property fmtid="{D5CDD505-2E9C-101B-9397-08002B2CF9AE}" pid="3" name="KSOProductBuildVer">
    <vt:lpwstr>1033-12.1.0.28485</vt:lpwstr>
  </property>
</Properties>
</file>