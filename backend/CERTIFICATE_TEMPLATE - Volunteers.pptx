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fonts/font1.fntdata" ContentType="application/x-fontdata"/>
  <Override PartName="/ppt/fonts/font2.fntdata" ContentType="application/x-fontdata"/>
  <Override PartName="/ppt/fonts/font3.fntdata" ContentType="application/x-fontdata"/>
  <Override PartName="/ppt/fonts/font4.fntdata" ContentType="application/x-fontdata"/>
  <Override PartName="/ppt/fonts/font5.fntdata" ContentType="application/x-fontdata"/>
  <Override PartName="/ppt/fonts/font6.fntdata" ContentType="application/x-fontdata"/>
  <Override PartName="/ppt/fonts/font7.fntdata" ContentType="application/x-fontdata"/>
  <Override PartName="/ppt/fonts/font8.fntdata" ContentType="application/x-fontdata"/>
  <Override PartName="/ppt/fonts/font9.fntdata" ContentType="application/x-fontdata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4"/>
  </p:notesMasterIdLst>
  <p:sldIdLst>
    <p:sldId id="256" r:id="rId3"/>
  </p:sldIdLst>
  <p:sldSz cx="10693400" cy="7556500"/>
  <p:notesSz cx="6858000" cy="9144000"/>
  <p:embeddedFontLst>
    <p:embeddedFont>
      <p:font typeface="Cardo Bold" panose="02020804080000020003"/>
      <p:bold r:id="rId8"/>
    </p:embeddedFont>
    <p:embeddedFont>
      <p:font typeface="Cardo" panose="02020600000000000000"/>
      <p:regular r:id="rId9"/>
      <p:bold r:id="rId10"/>
      <p:italic r:id="rId11"/>
    </p:embeddedFont>
    <p:embeddedFont>
      <p:font typeface="Bebas Neue Bold" panose="020B0606020202050201"/>
      <p:bold r:id="rId12"/>
    </p:embeddedFont>
    <p:embeddedFont>
      <p:font typeface="Calibri" panose="020F0502020204030204" charset="0"/>
      <p:regular r:id="rId13"/>
      <p:bold r:id="rId14"/>
      <p:italic r:id="rId15"/>
      <p:boldItalic r:id="rId1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208" userDrawn="1">
          <p15:clr>
            <a:srgbClr val="A4A3A4"/>
          </p15:clr>
        </p15:guide>
        <p15:guide id="2" pos="29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 showGuides="1">
      <p:cViewPr varScale="1">
        <p:scale>
          <a:sx n="74" d="100"/>
          <a:sy n="74" d="100"/>
        </p:scale>
        <p:origin x="-1092" y="-90"/>
      </p:cViewPr>
      <p:guideLst>
        <p:guide orient="horz" pos="2208"/>
        <p:guide pos="29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font" Target="fonts/font2.fntdata"/><Relationship Id="rId8" Type="http://schemas.openxmlformats.org/officeDocument/2006/relationships/font" Target="fonts/font1.fntdata"/><Relationship Id="rId7" Type="http://schemas.openxmlformats.org/officeDocument/2006/relationships/tableStyles" Target="tableStyles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6" Type="http://schemas.openxmlformats.org/officeDocument/2006/relationships/font" Target="fonts/font9.fntdata"/><Relationship Id="rId15" Type="http://schemas.openxmlformats.org/officeDocument/2006/relationships/font" Target="fonts/font8.fntdata"/><Relationship Id="rId14" Type="http://schemas.openxmlformats.org/officeDocument/2006/relationships/font" Target="fonts/font7.fntdata"/><Relationship Id="rId13" Type="http://schemas.openxmlformats.org/officeDocument/2006/relationships/font" Target="fonts/font6.fntdata"/><Relationship Id="rId12" Type="http://schemas.openxmlformats.org/officeDocument/2006/relationships/font" Target="fonts/font5.fntdata"/><Relationship Id="rId11" Type="http://schemas.openxmlformats.org/officeDocument/2006/relationships/font" Target="fonts/font4.fntdata"/><Relationship Id="rId10" Type="http://schemas.openxmlformats.org/officeDocument/2006/relationships/font" Target="fonts/font3.fntdata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EFD42F7-718C-4B98-AAEC-167E6DDD60A7}" type="datetimeFigureOut">
              <a:rPr lang="en-US" smtClean="0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245390" y="1143000"/>
            <a:ext cx="4367221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1B2AA4F-B828-4D7C-AFD3-893933DAFCB4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9" Type="http://schemas.openxmlformats.org/officeDocument/2006/relationships/image" Target="../media/image9.png"/><Relationship Id="rId8" Type="http://schemas.openxmlformats.org/officeDocument/2006/relationships/image" Target="../media/image8.png"/><Relationship Id="rId7" Type="http://schemas.openxmlformats.org/officeDocument/2006/relationships/image" Target="../media/image7.png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Relationship Id="rId3" Type="http://schemas.openxmlformats.org/officeDocument/2006/relationships/image" Target="../media/image3.png"/><Relationship Id="rId20" Type="http://schemas.openxmlformats.org/officeDocument/2006/relationships/notesSlide" Target="../notesSlides/notesSlide1.xml"/><Relationship Id="rId2" Type="http://schemas.openxmlformats.org/officeDocument/2006/relationships/image" Target="../media/image2.png"/><Relationship Id="rId19" Type="http://schemas.openxmlformats.org/officeDocument/2006/relationships/slideLayout" Target="../slideLayouts/slideLayout7.xml"/><Relationship Id="rId18" Type="http://schemas.openxmlformats.org/officeDocument/2006/relationships/image" Target="../media/image18.png"/><Relationship Id="rId17" Type="http://schemas.openxmlformats.org/officeDocument/2006/relationships/image" Target="../media/image17.png"/><Relationship Id="rId16" Type="http://schemas.openxmlformats.org/officeDocument/2006/relationships/image" Target="../media/image16.png"/><Relationship Id="rId15" Type="http://schemas.openxmlformats.org/officeDocument/2006/relationships/image" Target="../media/image15.png"/><Relationship Id="rId14" Type="http://schemas.openxmlformats.org/officeDocument/2006/relationships/image" Target="../media/image14.png"/><Relationship Id="rId13" Type="http://schemas.openxmlformats.org/officeDocument/2006/relationships/image" Target="../media/image13.png"/><Relationship Id="rId12" Type="http://schemas.openxmlformats.org/officeDocument/2006/relationships/image" Target="../media/image12.png"/><Relationship Id="rId11" Type="http://schemas.openxmlformats.org/officeDocument/2006/relationships/image" Target="../media/image11.png"/><Relationship Id="rId10" Type="http://schemas.openxmlformats.org/officeDocument/2006/relationships/image" Target="../media/image10.png"/><Relationship Id="rId1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76200"/>
            <a:ext cx="10693400" cy="7605395"/>
          </a:xfrm>
          <a:custGeom>
            <a:avLst/>
            <a:gdLst/>
            <a:ahLst/>
            <a:cxnLst/>
            <a:rect l="l" t="t" r="r" b="b"/>
            <a:pathLst>
              <a:path w="10759393" h="7605546">
                <a:moveTo>
                  <a:pt x="0" y="0"/>
                </a:moveTo>
                <a:lnTo>
                  <a:pt x="10759393" y="0"/>
                </a:lnTo>
                <a:lnTo>
                  <a:pt x="10759393" y="7605546"/>
                </a:lnTo>
                <a:lnTo>
                  <a:pt x="0" y="7605546"/>
                </a:lnTo>
                <a:lnTo>
                  <a:pt x="0" y="0"/>
                </a:lnTo>
                <a:close/>
              </a:path>
            </a:pathLst>
          </a:custGeom>
          <a:blipFill>
            <a:blip r:embed="rId1"/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 rot="0">
            <a:off x="3605079" y="1447762"/>
            <a:ext cx="946061" cy="301019"/>
            <a:chOff x="0" y="0"/>
            <a:chExt cx="1261415" cy="401358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261364" cy="401320"/>
            </a:xfrm>
            <a:custGeom>
              <a:avLst/>
              <a:gdLst/>
              <a:ahLst/>
              <a:cxnLst/>
              <a:rect l="l" t="t" r="r" b="b"/>
              <a:pathLst>
                <a:path w="1261364" h="401320">
                  <a:moveTo>
                    <a:pt x="0" y="0"/>
                  </a:moveTo>
                  <a:lnTo>
                    <a:pt x="1261364" y="0"/>
                  </a:lnTo>
                  <a:lnTo>
                    <a:pt x="1261364" y="401320"/>
                  </a:lnTo>
                  <a:lnTo>
                    <a:pt x="0" y="4013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r="-4" b="-9"/>
              </a:stretch>
            </a:blipFill>
          </p:spPr>
        </p:sp>
      </p:grpSp>
      <p:grpSp>
        <p:nvGrpSpPr>
          <p:cNvPr id="5" name="Group 5"/>
          <p:cNvGrpSpPr/>
          <p:nvPr/>
        </p:nvGrpSpPr>
        <p:grpSpPr>
          <a:xfrm rot="0">
            <a:off x="4407799" y="1447762"/>
            <a:ext cx="1741618" cy="301019"/>
            <a:chOff x="0" y="0"/>
            <a:chExt cx="2322157" cy="401358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322195" cy="401320"/>
            </a:xfrm>
            <a:custGeom>
              <a:avLst/>
              <a:gdLst/>
              <a:ahLst/>
              <a:cxnLst/>
              <a:rect l="l" t="t" r="r" b="b"/>
              <a:pathLst>
                <a:path w="2322195" h="401320">
                  <a:moveTo>
                    <a:pt x="0" y="0"/>
                  </a:moveTo>
                  <a:lnTo>
                    <a:pt x="2322195" y="0"/>
                  </a:lnTo>
                  <a:lnTo>
                    <a:pt x="2322195" y="401320"/>
                  </a:lnTo>
                  <a:lnTo>
                    <a:pt x="0" y="4013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r="1" b="-9"/>
              </a:stretch>
            </a:blipFill>
          </p:spPr>
        </p:sp>
      </p:grpSp>
      <p:grpSp>
        <p:nvGrpSpPr>
          <p:cNvPr id="7" name="Group 7"/>
          <p:cNvGrpSpPr/>
          <p:nvPr/>
        </p:nvGrpSpPr>
        <p:grpSpPr>
          <a:xfrm rot="0">
            <a:off x="6142253" y="1447762"/>
            <a:ext cx="946061" cy="301019"/>
            <a:chOff x="0" y="0"/>
            <a:chExt cx="1261415" cy="401358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1261364" cy="401320"/>
            </a:xfrm>
            <a:custGeom>
              <a:avLst/>
              <a:gdLst/>
              <a:ahLst/>
              <a:cxnLst/>
              <a:rect l="l" t="t" r="r" b="b"/>
              <a:pathLst>
                <a:path w="1261364" h="401320">
                  <a:moveTo>
                    <a:pt x="0" y="0"/>
                  </a:moveTo>
                  <a:lnTo>
                    <a:pt x="1261364" y="0"/>
                  </a:lnTo>
                  <a:lnTo>
                    <a:pt x="1261364" y="401320"/>
                  </a:lnTo>
                  <a:lnTo>
                    <a:pt x="0" y="4013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r="-4" b="-9"/>
              </a:stretch>
            </a:blipFill>
          </p:spPr>
        </p:sp>
      </p:grpSp>
      <p:grpSp>
        <p:nvGrpSpPr>
          <p:cNvPr id="9" name="Group 9"/>
          <p:cNvGrpSpPr/>
          <p:nvPr/>
        </p:nvGrpSpPr>
        <p:grpSpPr>
          <a:xfrm rot="0">
            <a:off x="3605079" y="2322157"/>
            <a:ext cx="673713" cy="150514"/>
            <a:chOff x="0" y="0"/>
            <a:chExt cx="898284" cy="200685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898271" cy="200660"/>
            </a:xfrm>
            <a:custGeom>
              <a:avLst/>
              <a:gdLst/>
              <a:ahLst/>
              <a:cxnLst/>
              <a:rect l="l" t="t" r="r" b="b"/>
              <a:pathLst>
                <a:path w="898271" h="200660">
                  <a:moveTo>
                    <a:pt x="0" y="0"/>
                  </a:moveTo>
                  <a:lnTo>
                    <a:pt x="898271" y="0"/>
                  </a:lnTo>
                  <a:lnTo>
                    <a:pt x="898271" y="200660"/>
                  </a:lnTo>
                  <a:lnTo>
                    <a:pt x="0" y="2006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r="-1" b="-12"/>
              </a:stretch>
            </a:blipFill>
          </p:spPr>
        </p:sp>
      </p:grpSp>
      <p:sp>
        <p:nvSpPr>
          <p:cNvPr id="11" name="TextBox 11"/>
          <p:cNvSpPr txBox="1"/>
          <p:nvPr/>
        </p:nvSpPr>
        <p:spPr>
          <a:xfrm>
            <a:off x="4320130" y="2238165"/>
            <a:ext cx="630907" cy="1738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40"/>
              </a:lnSpc>
            </a:pPr>
            <a:r>
              <a:rPr lang="en-US" sz="960" b="1">
                <a:solidFill>
                  <a:srgbClr val="B20000"/>
                </a:solidFill>
                <a:latin typeface="Cardo Bold" panose="02020804080000020003"/>
                <a:ea typeface="Cardo Bold" panose="02020804080000020003"/>
                <a:cs typeface="Cardo Bold" panose="02020804080000020003"/>
                <a:sym typeface="Cardo Bold" panose="02020804080000020003"/>
              </a:rPr>
              <a:t>DIPLOMA</a:t>
            </a:r>
            <a:endParaRPr lang="en-US" sz="960" b="1">
              <a:solidFill>
                <a:srgbClr val="B20000"/>
              </a:solidFill>
              <a:latin typeface="Cardo Bold" panose="02020804080000020003"/>
              <a:ea typeface="Cardo Bold" panose="02020804080000020003"/>
              <a:cs typeface="Cardo Bold" panose="02020804080000020003"/>
              <a:sym typeface="Cardo Bold" panose="02020804080000020003"/>
            </a:endParaRPr>
          </a:p>
        </p:txBody>
      </p:sp>
      <p:grpSp>
        <p:nvGrpSpPr>
          <p:cNvPr id="12" name="Group 12"/>
          <p:cNvGrpSpPr/>
          <p:nvPr/>
        </p:nvGrpSpPr>
        <p:grpSpPr>
          <a:xfrm rot="0">
            <a:off x="4945342" y="2178815"/>
            <a:ext cx="136179" cy="293856"/>
            <a:chOff x="0" y="0"/>
            <a:chExt cx="181572" cy="391808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81610" cy="391795"/>
            </a:xfrm>
            <a:custGeom>
              <a:avLst/>
              <a:gdLst/>
              <a:ahLst/>
              <a:cxnLst/>
              <a:rect l="l" t="t" r="r" b="b"/>
              <a:pathLst>
                <a:path w="181610" h="391795">
                  <a:moveTo>
                    <a:pt x="0" y="0"/>
                  </a:moveTo>
                  <a:lnTo>
                    <a:pt x="181610" y="0"/>
                  </a:lnTo>
                  <a:lnTo>
                    <a:pt x="181610" y="391795"/>
                  </a:lnTo>
                  <a:lnTo>
                    <a:pt x="0" y="39179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r="20" b="-3"/>
              </a:stretch>
            </a:blipFill>
          </p:spPr>
        </p:sp>
      </p:grpSp>
      <p:grpSp>
        <p:nvGrpSpPr>
          <p:cNvPr id="14" name="Group 14"/>
          <p:cNvGrpSpPr/>
          <p:nvPr/>
        </p:nvGrpSpPr>
        <p:grpSpPr>
          <a:xfrm rot="0">
            <a:off x="5740889" y="2178815"/>
            <a:ext cx="279521" cy="293856"/>
            <a:chOff x="0" y="0"/>
            <a:chExt cx="372694" cy="391808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372745" cy="391795"/>
            </a:xfrm>
            <a:custGeom>
              <a:avLst/>
              <a:gdLst/>
              <a:ahLst/>
              <a:cxnLst/>
              <a:rect l="l" t="t" r="r" b="b"/>
              <a:pathLst>
                <a:path w="372745" h="391795">
                  <a:moveTo>
                    <a:pt x="0" y="0"/>
                  </a:moveTo>
                  <a:lnTo>
                    <a:pt x="372745" y="0"/>
                  </a:lnTo>
                  <a:lnTo>
                    <a:pt x="372745" y="391795"/>
                  </a:lnTo>
                  <a:lnTo>
                    <a:pt x="0" y="39179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r="13" b="-3"/>
              </a:stretch>
            </a:blipFill>
          </p:spPr>
        </p:sp>
      </p:grpSp>
      <p:grpSp>
        <p:nvGrpSpPr>
          <p:cNvPr id="16" name="Group 16"/>
          <p:cNvGrpSpPr/>
          <p:nvPr/>
        </p:nvGrpSpPr>
        <p:grpSpPr>
          <a:xfrm rot="0">
            <a:off x="6414611" y="2322157"/>
            <a:ext cx="673713" cy="150514"/>
            <a:chOff x="0" y="0"/>
            <a:chExt cx="898284" cy="200685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898271" cy="200660"/>
            </a:xfrm>
            <a:custGeom>
              <a:avLst/>
              <a:gdLst/>
              <a:ahLst/>
              <a:cxnLst/>
              <a:rect l="l" t="t" r="r" b="b"/>
              <a:pathLst>
                <a:path w="898271" h="200660">
                  <a:moveTo>
                    <a:pt x="0" y="0"/>
                  </a:moveTo>
                  <a:lnTo>
                    <a:pt x="898271" y="0"/>
                  </a:lnTo>
                  <a:lnTo>
                    <a:pt x="898271" y="200660"/>
                  </a:lnTo>
                  <a:lnTo>
                    <a:pt x="0" y="2006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 r="-1" b="-12"/>
              </a:stretch>
            </a:blipFill>
          </p:spPr>
        </p:sp>
      </p:grpSp>
      <p:grpSp>
        <p:nvGrpSpPr>
          <p:cNvPr id="18" name="Group 18"/>
          <p:cNvGrpSpPr/>
          <p:nvPr/>
        </p:nvGrpSpPr>
        <p:grpSpPr>
          <a:xfrm rot="0">
            <a:off x="955730" y="465679"/>
            <a:ext cx="732671" cy="867591"/>
            <a:chOff x="0" y="0"/>
            <a:chExt cx="4099611" cy="4854550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4099560" cy="4854575"/>
            </a:xfrm>
            <a:custGeom>
              <a:avLst/>
              <a:gdLst/>
              <a:ahLst/>
              <a:cxnLst/>
              <a:rect l="l" t="t" r="r" b="b"/>
              <a:pathLst>
                <a:path w="4099560" h="4854575">
                  <a:moveTo>
                    <a:pt x="0" y="0"/>
                  </a:moveTo>
                  <a:lnTo>
                    <a:pt x="4099560" y="0"/>
                  </a:lnTo>
                  <a:lnTo>
                    <a:pt x="4099560" y="4854575"/>
                  </a:lnTo>
                  <a:lnTo>
                    <a:pt x="0" y="485457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>
                <a:fillRect l="-3850" r="-3850"/>
              </a:stretch>
            </a:blipFill>
          </p:spPr>
        </p:sp>
      </p:grpSp>
      <p:grpSp>
        <p:nvGrpSpPr>
          <p:cNvPr id="20" name="Group 20"/>
          <p:cNvGrpSpPr/>
          <p:nvPr/>
        </p:nvGrpSpPr>
        <p:grpSpPr>
          <a:xfrm rot="0">
            <a:off x="2673353" y="4208768"/>
            <a:ext cx="5217690" cy="150514"/>
            <a:chOff x="0" y="0"/>
            <a:chExt cx="6956920" cy="200685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6956933" cy="200660"/>
            </a:xfrm>
            <a:custGeom>
              <a:avLst/>
              <a:gdLst/>
              <a:ahLst/>
              <a:cxnLst/>
              <a:rect l="l" t="t" r="r" b="b"/>
              <a:pathLst>
                <a:path w="6956933" h="200660">
                  <a:moveTo>
                    <a:pt x="0" y="0"/>
                  </a:moveTo>
                  <a:lnTo>
                    <a:pt x="6956933" y="0"/>
                  </a:lnTo>
                  <a:lnTo>
                    <a:pt x="6956933" y="200660"/>
                  </a:lnTo>
                  <a:lnTo>
                    <a:pt x="0" y="2006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>
                <a:fillRect b="-12"/>
              </a:stretch>
            </a:blipFill>
          </p:spPr>
        </p:sp>
      </p:grpSp>
      <p:grpSp>
        <p:nvGrpSpPr>
          <p:cNvPr id="22" name="Group 22"/>
          <p:cNvGrpSpPr/>
          <p:nvPr/>
        </p:nvGrpSpPr>
        <p:grpSpPr>
          <a:xfrm rot="0">
            <a:off x="6713811" y="6716982"/>
            <a:ext cx="1263739" cy="759038"/>
            <a:chOff x="0" y="0"/>
            <a:chExt cx="1684985" cy="1012050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1685036" cy="1012063"/>
            </a:xfrm>
            <a:custGeom>
              <a:avLst/>
              <a:gdLst/>
              <a:ahLst/>
              <a:cxnLst/>
              <a:rect l="l" t="t" r="r" b="b"/>
              <a:pathLst>
                <a:path w="1685036" h="1012063">
                  <a:moveTo>
                    <a:pt x="0" y="0"/>
                  </a:moveTo>
                  <a:lnTo>
                    <a:pt x="1685036" y="0"/>
                  </a:lnTo>
                  <a:lnTo>
                    <a:pt x="1685036" y="1012063"/>
                  </a:lnTo>
                  <a:lnTo>
                    <a:pt x="0" y="101206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>
                <a:fillRect t="-121" r="3" b="-119"/>
              </a:stretch>
            </a:blipFill>
          </p:spPr>
        </p:sp>
      </p:grpSp>
      <p:grpSp>
        <p:nvGrpSpPr>
          <p:cNvPr id="24" name="Group 24"/>
          <p:cNvGrpSpPr/>
          <p:nvPr/>
        </p:nvGrpSpPr>
        <p:grpSpPr>
          <a:xfrm rot="0">
            <a:off x="3157357" y="6663633"/>
            <a:ext cx="1077982" cy="947195"/>
            <a:chOff x="0" y="0"/>
            <a:chExt cx="1437310" cy="1262926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1437259" cy="1262888"/>
            </a:xfrm>
            <a:custGeom>
              <a:avLst/>
              <a:gdLst/>
              <a:ahLst/>
              <a:cxnLst/>
              <a:rect l="l" t="t" r="r" b="b"/>
              <a:pathLst>
                <a:path w="1437259" h="1262888">
                  <a:moveTo>
                    <a:pt x="0" y="0"/>
                  </a:moveTo>
                  <a:lnTo>
                    <a:pt x="1437259" y="0"/>
                  </a:lnTo>
                  <a:lnTo>
                    <a:pt x="1437259" y="1262888"/>
                  </a:lnTo>
                  <a:lnTo>
                    <a:pt x="0" y="126288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>
                <a:fillRect l="-83" r="-88" b="-3"/>
              </a:stretch>
            </a:blipFill>
          </p:spPr>
        </p:sp>
      </p:grpSp>
      <p:sp>
        <p:nvSpPr>
          <p:cNvPr id="26" name="Freeform 26"/>
          <p:cNvSpPr/>
          <p:nvPr/>
        </p:nvSpPr>
        <p:spPr>
          <a:xfrm>
            <a:off x="8052568" y="379714"/>
            <a:ext cx="752572" cy="752572"/>
          </a:xfrm>
          <a:custGeom>
            <a:avLst/>
            <a:gdLst/>
            <a:ahLst/>
            <a:cxnLst/>
            <a:rect l="l" t="t" r="r" b="b"/>
            <a:pathLst>
              <a:path w="752572" h="752572">
                <a:moveTo>
                  <a:pt x="0" y="0"/>
                </a:moveTo>
                <a:lnTo>
                  <a:pt x="752572" y="0"/>
                </a:lnTo>
                <a:lnTo>
                  <a:pt x="752572" y="752572"/>
                </a:lnTo>
                <a:lnTo>
                  <a:pt x="0" y="752572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>
              <a:fillRect/>
            </a:stretch>
          </a:blipFill>
        </p:spPr>
      </p:sp>
      <p:sp>
        <p:nvSpPr>
          <p:cNvPr id="27" name="Freeform 27"/>
          <p:cNvSpPr/>
          <p:nvPr/>
        </p:nvSpPr>
        <p:spPr>
          <a:xfrm>
            <a:off x="1877461" y="516821"/>
            <a:ext cx="853127" cy="722310"/>
          </a:xfrm>
          <a:custGeom>
            <a:avLst/>
            <a:gdLst/>
            <a:ahLst/>
            <a:cxnLst/>
            <a:rect l="l" t="t" r="r" b="b"/>
            <a:pathLst>
              <a:path w="853127" h="722310">
                <a:moveTo>
                  <a:pt x="0" y="0"/>
                </a:moveTo>
                <a:lnTo>
                  <a:pt x="853127" y="0"/>
                </a:lnTo>
                <a:lnTo>
                  <a:pt x="853127" y="722311"/>
                </a:lnTo>
                <a:lnTo>
                  <a:pt x="0" y="722311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>
              <a:fillRect/>
            </a:stretch>
          </a:blipFill>
        </p:spPr>
      </p:sp>
      <p:sp>
        <p:nvSpPr>
          <p:cNvPr id="28" name="Freeform 28"/>
          <p:cNvSpPr/>
          <p:nvPr/>
        </p:nvSpPr>
        <p:spPr>
          <a:xfrm>
            <a:off x="955730" y="1529822"/>
            <a:ext cx="773426" cy="817169"/>
          </a:xfrm>
          <a:custGeom>
            <a:avLst/>
            <a:gdLst/>
            <a:ahLst/>
            <a:cxnLst/>
            <a:rect l="l" t="t" r="r" b="b"/>
            <a:pathLst>
              <a:path w="773426" h="817169">
                <a:moveTo>
                  <a:pt x="0" y="0"/>
                </a:moveTo>
                <a:lnTo>
                  <a:pt x="773426" y="0"/>
                </a:lnTo>
                <a:lnTo>
                  <a:pt x="773426" y="817169"/>
                </a:lnTo>
                <a:lnTo>
                  <a:pt x="0" y="817169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>
              <a:fillRect/>
            </a:stretch>
          </a:blipFill>
        </p:spPr>
      </p:sp>
      <p:sp>
        <p:nvSpPr>
          <p:cNvPr id="29" name="Freeform 29"/>
          <p:cNvSpPr/>
          <p:nvPr/>
        </p:nvSpPr>
        <p:spPr>
          <a:xfrm>
            <a:off x="8289047" y="1315007"/>
            <a:ext cx="1100195" cy="623400"/>
          </a:xfrm>
          <a:custGeom>
            <a:avLst/>
            <a:gdLst/>
            <a:ahLst/>
            <a:cxnLst/>
            <a:rect l="l" t="t" r="r" b="b"/>
            <a:pathLst>
              <a:path w="1100195" h="623400">
                <a:moveTo>
                  <a:pt x="0" y="0"/>
                </a:moveTo>
                <a:lnTo>
                  <a:pt x="1100195" y="0"/>
                </a:lnTo>
                <a:lnTo>
                  <a:pt x="1100195" y="623400"/>
                </a:lnTo>
                <a:lnTo>
                  <a:pt x="0" y="623400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>
              <a:fillRect/>
            </a:stretch>
          </a:blipFill>
        </p:spPr>
      </p:sp>
      <p:sp>
        <p:nvSpPr>
          <p:cNvPr id="30" name="Freeform 30"/>
          <p:cNvSpPr/>
          <p:nvPr/>
        </p:nvSpPr>
        <p:spPr>
          <a:xfrm>
            <a:off x="8898646" y="379714"/>
            <a:ext cx="752572" cy="752572"/>
          </a:xfrm>
          <a:custGeom>
            <a:avLst/>
            <a:gdLst/>
            <a:ahLst/>
            <a:cxnLst/>
            <a:rect l="l" t="t" r="r" b="b"/>
            <a:pathLst>
              <a:path w="752572" h="752572">
                <a:moveTo>
                  <a:pt x="0" y="0"/>
                </a:moveTo>
                <a:lnTo>
                  <a:pt x="752572" y="0"/>
                </a:lnTo>
                <a:lnTo>
                  <a:pt x="752572" y="752572"/>
                </a:lnTo>
                <a:lnTo>
                  <a:pt x="0" y="752572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>
              <a:fillRect/>
            </a:stretch>
          </a:blipFill>
        </p:spPr>
      </p:sp>
      <p:sp>
        <p:nvSpPr>
          <p:cNvPr id="31" name="TextBox 31"/>
          <p:cNvSpPr txBox="1"/>
          <p:nvPr/>
        </p:nvSpPr>
        <p:spPr>
          <a:xfrm>
            <a:off x="2577113" y="2311689"/>
            <a:ext cx="5656812" cy="8962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680"/>
              </a:lnSpc>
            </a:pPr>
            <a:r>
              <a:rPr lang="en-US" sz="4770" b="1" spc="715">
                <a:solidFill>
                  <a:srgbClr val="0D1E4A"/>
                </a:solidFill>
                <a:latin typeface="Cardo Bold" panose="02020804080000020003"/>
                <a:ea typeface="Cardo Bold" panose="02020804080000020003"/>
                <a:cs typeface="Cardo Bold" panose="02020804080000020003"/>
                <a:sym typeface="Cardo Bold" panose="02020804080000020003"/>
              </a:rPr>
              <a:t>CERTIFICATE</a:t>
            </a:r>
            <a:endParaRPr lang="en-US" sz="4770" b="1" spc="715">
              <a:solidFill>
                <a:srgbClr val="0D1E4A"/>
              </a:solidFill>
              <a:latin typeface="Cardo Bold" panose="02020804080000020003"/>
              <a:ea typeface="Cardo Bold" panose="02020804080000020003"/>
              <a:cs typeface="Cardo Bold" panose="02020804080000020003"/>
              <a:sym typeface="Cardo Bold" panose="02020804080000020003"/>
            </a:endParaRPr>
          </a:p>
        </p:txBody>
      </p:sp>
      <p:sp>
        <p:nvSpPr>
          <p:cNvPr id="32" name="TextBox 32"/>
          <p:cNvSpPr txBox="1"/>
          <p:nvPr/>
        </p:nvSpPr>
        <p:spPr>
          <a:xfrm>
            <a:off x="1832400" y="4461562"/>
            <a:ext cx="7239781" cy="20713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95"/>
              </a:lnSpc>
            </a:pPr>
            <a:r>
              <a:rPr lang="en-US" altLang="en-US" sz="1280">
                <a:solidFill>
                  <a:srgbClr val="0D1E4A"/>
                </a:solidFill>
                <a:latin typeface="Cardo" panose="02020600000000000000"/>
                <a:ea typeface="Cardo" panose="02020600000000000000"/>
                <a:cs typeface="Cardo" panose="02020600000000000000"/>
                <a:sym typeface="Cardo" panose="02020600000000000000"/>
              </a:rPr>
              <a:t>We sincerely appreciate your dedicated service, active participation, and valuable contribution as an official Volunteer for the {{EVENT NAME}}, organized by Trinity College of Engineering and Technology – </a:t>
            </a:r>
            <a:r>
              <a:rPr lang="en-US" altLang="en-US" sz="1280">
                <a:solidFill>
                  <a:srgbClr val="0D1E4A"/>
                </a:solidFill>
                <a:latin typeface="Cardo" panose="02020600000000000000"/>
                <a:ea typeface="Cardo" panose="02020600000000000000"/>
                <a:cs typeface="Cardo" panose="02020600000000000000"/>
                <a:sym typeface="Cardo" panose="02020600000000000000"/>
              </a:rPr>
              <a:t>Auto</a:t>
            </a:r>
            <a:r>
              <a:rPr lang="en-IN" altLang="en-US" sz="1280">
                <a:solidFill>
                  <a:srgbClr val="0D1E4A"/>
                </a:solidFill>
                <a:latin typeface="Cardo" panose="02020600000000000000"/>
                <a:ea typeface="Cardo" panose="02020600000000000000"/>
                <a:cs typeface="Cardo" panose="02020600000000000000"/>
                <a:sym typeface="Cardo" panose="02020600000000000000"/>
              </a:rPr>
              <a:t>nomous</a:t>
            </a:r>
            <a:r>
              <a:rPr lang="en-US" altLang="en-US" sz="1280">
                <a:solidFill>
                  <a:srgbClr val="0D1E4A"/>
                </a:solidFill>
                <a:latin typeface="Cardo" panose="02020600000000000000"/>
                <a:ea typeface="Cardo" panose="02020600000000000000"/>
                <a:cs typeface="Cardo" panose="02020600000000000000"/>
                <a:sym typeface="Cardo" panose="02020600000000000000"/>
              </a:rPr>
              <a:t>, Peddapalli, and held on {{DATE}}.</a:t>
            </a:r>
            <a:endParaRPr lang="en-US" altLang="en-US" sz="1280">
              <a:solidFill>
                <a:srgbClr val="0D1E4A"/>
              </a:solidFill>
              <a:latin typeface="Cardo" panose="02020600000000000000"/>
              <a:ea typeface="Cardo" panose="02020600000000000000"/>
              <a:cs typeface="Cardo" panose="02020600000000000000"/>
              <a:sym typeface="Cardo" panose="02020600000000000000"/>
            </a:endParaRPr>
          </a:p>
          <a:p>
            <a:pPr algn="ctr">
              <a:lnSpc>
                <a:spcPts val="1795"/>
              </a:lnSpc>
            </a:pPr>
            <a:endParaRPr lang="en-US" altLang="en-US" sz="1280">
              <a:solidFill>
                <a:srgbClr val="0D1E4A"/>
              </a:solidFill>
              <a:latin typeface="Cardo" panose="02020600000000000000"/>
              <a:ea typeface="Cardo" panose="02020600000000000000"/>
              <a:cs typeface="Cardo" panose="02020600000000000000"/>
              <a:sym typeface="Cardo" panose="02020600000000000000"/>
            </a:endParaRPr>
          </a:p>
          <a:p>
            <a:pPr algn="ctr">
              <a:lnSpc>
                <a:spcPts val="1795"/>
              </a:lnSpc>
            </a:pPr>
            <a:r>
              <a:rPr lang="en-US" altLang="en-US" sz="1280">
                <a:solidFill>
                  <a:srgbClr val="0D1E4A"/>
                </a:solidFill>
                <a:latin typeface="Cardo" panose="02020600000000000000"/>
                <a:ea typeface="Cardo" panose="02020600000000000000"/>
                <a:cs typeface="Cardo" panose="02020600000000000000"/>
                <a:sym typeface="Cardo" panose="02020600000000000000"/>
              </a:rPr>
              <a:t>Your dedication, teamwork, and valuable support contributed significantly to the successful conduct of the event. We sincerely appreciate your enthusiasm, cooperation, and contribution.</a:t>
            </a:r>
            <a:endParaRPr lang="en-US" altLang="en-US" sz="1280">
              <a:solidFill>
                <a:srgbClr val="0D1E4A"/>
              </a:solidFill>
              <a:latin typeface="Cardo" panose="02020600000000000000"/>
              <a:ea typeface="Cardo" panose="02020600000000000000"/>
              <a:cs typeface="Cardo" panose="02020600000000000000"/>
              <a:sym typeface="Cardo" panose="02020600000000000000"/>
            </a:endParaRPr>
          </a:p>
          <a:p>
            <a:pPr algn="ctr">
              <a:lnSpc>
                <a:spcPts val="1795"/>
              </a:lnSpc>
            </a:pPr>
            <a:endParaRPr lang="en-US" altLang="en-US" sz="1280">
              <a:solidFill>
                <a:srgbClr val="0D1E4A"/>
              </a:solidFill>
              <a:latin typeface="Cardo" panose="02020600000000000000"/>
              <a:ea typeface="Cardo" panose="02020600000000000000"/>
              <a:cs typeface="Cardo" panose="02020600000000000000"/>
              <a:sym typeface="Cardo" panose="02020600000000000000"/>
            </a:endParaRPr>
          </a:p>
          <a:p>
            <a:pPr algn="ctr">
              <a:lnSpc>
                <a:spcPts val="1795"/>
              </a:lnSpc>
            </a:pPr>
          </a:p>
          <a:p>
            <a:pPr algn="ctr">
              <a:lnSpc>
                <a:spcPts val="1795"/>
              </a:lnSpc>
            </a:pPr>
          </a:p>
        </p:txBody>
      </p:sp>
      <p:grpSp>
        <p:nvGrpSpPr>
          <p:cNvPr id="33" name="Group 33"/>
          <p:cNvGrpSpPr/>
          <p:nvPr/>
        </p:nvGrpSpPr>
        <p:grpSpPr>
          <a:xfrm rot="0">
            <a:off x="4006444" y="6059581"/>
            <a:ext cx="2544337" cy="301019"/>
            <a:chOff x="0" y="0"/>
            <a:chExt cx="3392449" cy="401358"/>
          </a:xfrm>
        </p:grpSpPr>
        <p:sp>
          <p:nvSpPr>
            <p:cNvPr id="34" name="Freeform 34"/>
            <p:cNvSpPr/>
            <p:nvPr/>
          </p:nvSpPr>
          <p:spPr>
            <a:xfrm>
              <a:off x="0" y="0"/>
              <a:ext cx="3392424" cy="401320"/>
            </a:xfrm>
            <a:custGeom>
              <a:avLst/>
              <a:gdLst/>
              <a:ahLst/>
              <a:cxnLst/>
              <a:rect l="l" t="t" r="r" b="b"/>
              <a:pathLst>
                <a:path w="3392424" h="401320">
                  <a:moveTo>
                    <a:pt x="0" y="0"/>
                  </a:moveTo>
                  <a:lnTo>
                    <a:pt x="3392424" y="0"/>
                  </a:lnTo>
                  <a:lnTo>
                    <a:pt x="3392424" y="401320"/>
                  </a:lnTo>
                  <a:lnTo>
                    <a:pt x="0" y="4013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/>
              <a:stretch>
                <a:fillRect b="-9"/>
              </a:stretch>
            </a:blipFill>
          </p:spPr>
        </p:sp>
      </p:grpSp>
      <p:sp>
        <p:nvSpPr>
          <p:cNvPr id="35" name="TextBox 35"/>
          <p:cNvSpPr txBox="1"/>
          <p:nvPr/>
        </p:nvSpPr>
        <p:spPr>
          <a:xfrm>
            <a:off x="2836545" y="6226175"/>
            <a:ext cx="4956810" cy="19050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490"/>
              </a:lnSpc>
            </a:pPr>
            <a:r>
              <a:rPr lang="en-US" altLang="en-US" sz="1065">
                <a:solidFill>
                  <a:srgbClr val="0D1E4A"/>
                </a:solidFill>
                <a:latin typeface="Cardo" panose="02020600000000000000"/>
                <a:ea typeface="Cardo" panose="02020600000000000000"/>
                <a:cs typeface="Cardo" panose="02020600000000000000"/>
                <a:sym typeface="Cardo" panose="02020600000000000000"/>
              </a:rPr>
              <a:t>Every contribution matters; every effort deserves to be recognized and celebrated.</a:t>
            </a:r>
            <a:endParaRPr lang="en-US" altLang="en-US" sz="1065">
              <a:solidFill>
                <a:srgbClr val="0D1E4A"/>
              </a:solidFill>
              <a:latin typeface="Cardo" panose="02020600000000000000"/>
              <a:ea typeface="Cardo" panose="02020600000000000000"/>
              <a:cs typeface="Cardo" panose="02020600000000000000"/>
              <a:sym typeface="Cardo" panose="02020600000000000000"/>
            </a:endParaRPr>
          </a:p>
        </p:txBody>
      </p:sp>
      <p:sp>
        <p:nvSpPr>
          <p:cNvPr id="36" name="TextBox 36"/>
          <p:cNvSpPr txBox="1"/>
          <p:nvPr/>
        </p:nvSpPr>
        <p:spPr>
          <a:xfrm>
            <a:off x="3185084" y="3798573"/>
            <a:ext cx="4322274" cy="4686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55"/>
              </a:lnSpc>
            </a:pPr>
            <a:r>
              <a:rPr lang="en-US" altLang="en-US" sz="2405" b="1">
                <a:solidFill>
                  <a:srgbClr val="000000"/>
                </a:solidFill>
                <a:latin typeface="Cardo Bold" panose="02020804080000020003"/>
                <a:ea typeface="Cardo Bold" panose="02020804080000020003"/>
                <a:cs typeface="Cardo Bold" panose="02020804080000020003"/>
                <a:sym typeface="Cardo Bold" panose="02020804080000020003"/>
              </a:rPr>
              <a:t>{{Volunteer's Full Name}}</a:t>
            </a:r>
            <a:r>
              <a:rPr lang="en-US" sz="2405" b="1">
                <a:solidFill>
                  <a:srgbClr val="000000"/>
                </a:solidFill>
                <a:latin typeface="Cardo Bold" panose="02020804080000020003"/>
                <a:ea typeface="Cardo Bold" panose="02020804080000020003"/>
                <a:cs typeface="Cardo Bold" panose="02020804080000020003"/>
                <a:sym typeface="Cardo Bold" panose="02020804080000020003"/>
              </a:rPr>
              <a:t> </a:t>
            </a:r>
            <a:endParaRPr lang="en-US" sz="2405" b="1">
              <a:solidFill>
                <a:srgbClr val="000000"/>
              </a:solidFill>
              <a:latin typeface="Cardo Bold" panose="02020804080000020003"/>
              <a:ea typeface="Cardo Bold" panose="02020804080000020003"/>
              <a:cs typeface="Cardo Bold" panose="02020804080000020003"/>
              <a:sym typeface="Cardo Bold" panose="02020804080000020003"/>
            </a:endParaRPr>
          </a:p>
        </p:txBody>
      </p:sp>
      <p:sp>
        <p:nvSpPr>
          <p:cNvPr id="37" name="TextBox 37"/>
          <p:cNvSpPr txBox="1"/>
          <p:nvPr/>
        </p:nvSpPr>
        <p:spPr>
          <a:xfrm>
            <a:off x="3507438" y="830351"/>
            <a:ext cx="3764080" cy="4091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85"/>
              </a:lnSpc>
            </a:pPr>
            <a:r>
              <a:rPr lang="en-US" sz="2135" b="1">
                <a:solidFill>
                  <a:srgbClr val="0D1E4A"/>
                </a:solidFill>
                <a:latin typeface="Bebas Neue Bold" panose="020B0606020202050201"/>
                <a:ea typeface="Bebas Neue Bold" panose="020B0606020202050201"/>
                <a:cs typeface="Bebas Neue Bold" panose="020B0606020202050201"/>
                <a:sym typeface="Bebas Neue Bold" panose="020B0606020202050201"/>
              </a:rPr>
              <a:t>COLLEGE OF ENGINEERING AND TECHNOLOGY</a:t>
            </a:r>
            <a:endParaRPr lang="en-US" sz="2135" b="1">
              <a:solidFill>
                <a:srgbClr val="0D1E4A"/>
              </a:solidFill>
              <a:latin typeface="Bebas Neue Bold" panose="020B0606020202050201"/>
              <a:ea typeface="Bebas Neue Bold" panose="020B0606020202050201"/>
              <a:cs typeface="Bebas Neue Bold" panose="020B0606020202050201"/>
              <a:sym typeface="Bebas Neue Bold" panose="020B0606020202050201"/>
            </a:endParaRPr>
          </a:p>
        </p:txBody>
      </p:sp>
      <p:sp>
        <p:nvSpPr>
          <p:cNvPr id="38" name="TextBox 38"/>
          <p:cNvSpPr txBox="1"/>
          <p:nvPr/>
        </p:nvSpPr>
        <p:spPr>
          <a:xfrm>
            <a:off x="4266667" y="1190349"/>
            <a:ext cx="2202837" cy="2302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90"/>
              </a:lnSpc>
            </a:pPr>
            <a:r>
              <a:rPr lang="en-US" sz="1280" b="1">
                <a:solidFill>
                  <a:srgbClr val="B20000"/>
                </a:solidFill>
                <a:latin typeface="Cardo Bold" panose="02020804080000020003"/>
                <a:ea typeface="Cardo Bold" panose="02020804080000020003"/>
                <a:cs typeface="Cardo Bold" panose="02020804080000020003"/>
                <a:sym typeface="Cardo Bold" panose="02020804080000020003"/>
              </a:rPr>
              <a:t>(An Autonomous Institution)</a:t>
            </a:r>
            <a:endParaRPr lang="en-US" sz="1280" b="1">
              <a:solidFill>
                <a:srgbClr val="B20000"/>
              </a:solidFill>
              <a:latin typeface="Cardo Bold" panose="02020804080000020003"/>
              <a:ea typeface="Cardo Bold" panose="02020804080000020003"/>
              <a:cs typeface="Cardo Bold" panose="02020804080000020003"/>
              <a:sym typeface="Cardo Bold" panose="02020804080000020003"/>
            </a:endParaRPr>
          </a:p>
        </p:txBody>
      </p:sp>
      <p:sp>
        <p:nvSpPr>
          <p:cNvPr id="39" name="TextBox 39"/>
          <p:cNvSpPr txBox="1"/>
          <p:nvPr/>
        </p:nvSpPr>
        <p:spPr>
          <a:xfrm>
            <a:off x="4801333" y="1510497"/>
            <a:ext cx="1026566" cy="1961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65"/>
              </a:lnSpc>
            </a:pPr>
            <a:r>
              <a:rPr lang="en-US" sz="1115" b="1">
                <a:solidFill>
                  <a:srgbClr val="FFFFFF"/>
                </a:solidFill>
                <a:latin typeface="Cardo Bold" panose="02020804080000020003"/>
                <a:ea typeface="Cardo Bold" panose="02020804080000020003"/>
                <a:cs typeface="Cardo Bold" panose="02020804080000020003"/>
                <a:sym typeface="Cardo Bold" panose="02020804080000020003"/>
              </a:rPr>
              <a:t>PEDDAPALLI</a:t>
            </a:r>
            <a:endParaRPr lang="en-US" sz="1115" b="1">
              <a:solidFill>
                <a:srgbClr val="FFFFFF"/>
              </a:solidFill>
              <a:latin typeface="Cardo Bold" panose="02020804080000020003"/>
              <a:ea typeface="Cardo Bold" panose="02020804080000020003"/>
              <a:cs typeface="Cardo Bold" panose="02020804080000020003"/>
              <a:sym typeface="Cardo Bold" panose="02020804080000020003"/>
            </a:endParaRPr>
          </a:p>
        </p:txBody>
      </p:sp>
      <p:sp>
        <p:nvSpPr>
          <p:cNvPr id="40" name="TextBox 40"/>
          <p:cNvSpPr txBox="1"/>
          <p:nvPr/>
        </p:nvSpPr>
        <p:spPr>
          <a:xfrm>
            <a:off x="3186636" y="1741561"/>
            <a:ext cx="4320130" cy="43757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95"/>
              </a:lnSpc>
            </a:pPr>
            <a:r>
              <a:rPr lang="en-US" sz="1065" b="1">
                <a:solidFill>
                  <a:srgbClr val="0D1E4A"/>
                </a:solidFill>
                <a:latin typeface="Cardo Bold" panose="02020804080000020003"/>
                <a:ea typeface="Cardo Bold" panose="02020804080000020003"/>
                <a:cs typeface="Cardo Bold" panose="02020804080000020003"/>
                <a:sym typeface="Cardo Bold" panose="02020804080000020003"/>
              </a:rPr>
              <a:t>Approved by AICTE, Recognized by NAAC, Recognized under 2 (f) of UGC, Affiliate to JNTU, Hyderabad &amp; Affiliated to SBTET</a:t>
            </a:r>
            <a:endParaRPr lang="en-US" sz="1065" b="1">
              <a:solidFill>
                <a:srgbClr val="0D1E4A"/>
              </a:solidFill>
              <a:latin typeface="Cardo Bold" panose="02020804080000020003"/>
              <a:ea typeface="Cardo Bold" panose="02020804080000020003"/>
              <a:cs typeface="Cardo Bold" panose="02020804080000020003"/>
              <a:sym typeface="Cardo Bold" panose="02020804080000020003"/>
            </a:endParaRPr>
          </a:p>
        </p:txBody>
      </p:sp>
      <p:sp>
        <p:nvSpPr>
          <p:cNvPr id="41" name="TextBox 41"/>
          <p:cNvSpPr txBox="1"/>
          <p:nvPr/>
        </p:nvSpPr>
        <p:spPr>
          <a:xfrm>
            <a:off x="5186296" y="2224840"/>
            <a:ext cx="545363" cy="1933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450"/>
              </a:lnSpc>
            </a:pPr>
            <a:r>
              <a:rPr lang="en-US" sz="1040" b="1">
                <a:solidFill>
                  <a:srgbClr val="0D1E4A"/>
                </a:solidFill>
                <a:latin typeface="Cardo Bold" panose="02020804080000020003"/>
                <a:ea typeface="Cardo Bold" panose="02020804080000020003"/>
                <a:cs typeface="Cardo Bold" panose="02020804080000020003"/>
                <a:sym typeface="Cardo Bold" panose="02020804080000020003"/>
              </a:rPr>
              <a:t>B.TECH</a:t>
            </a:r>
            <a:endParaRPr lang="en-US" sz="1040" b="1">
              <a:solidFill>
                <a:srgbClr val="0D1E4A"/>
              </a:solidFill>
              <a:latin typeface="Cardo Bold" panose="02020804080000020003"/>
              <a:ea typeface="Cardo Bold" panose="02020804080000020003"/>
              <a:cs typeface="Cardo Bold" panose="02020804080000020003"/>
              <a:sym typeface="Cardo Bold" panose="02020804080000020003"/>
            </a:endParaRPr>
          </a:p>
        </p:txBody>
      </p:sp>
      <p:sp>
        <p:nvSpPr>
          <p:cNvPr id="42" name="TextBox 42"/>
          <p:cNvSpPr txBox="1"/>
          <p:nvPr/>
        </p:nvSpPr>
        <p:spPr>
          <a:xfrm>
            <a:off x="6020381" y="2220582"/>
            <a:ext cx="310105" cy="1947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75"/>
              </a:lnSpc>
            </a:pPr>
            <a:r>
              <a:rPr lang="en-US" sz="985" b="1">
                <a:solidFill>
                  <a:srgbClr val="B20000"/>
                </a:solidFill>
                <a:latin typeface="Cardo Bold" panose="02020804080000020003"/>
                <a:ea typeface="Cardo Bold" panose="02020804080000020003"/>
                <a:cs typeface="Cardo Bold" panose="02020804080000020003"/>
                <a:sym typeface="Cardo Bold" panose="02020804080000020003"/>
              </a:rPr>
              <a:t>MBA</a:t>
            </a:r>
            <a:endParaRPr lang="en-US" sz="985" b="1">
              <a:solidFill>
                <a:srgbClr val="B20000"/>
              </a:solidFill>
              <a:latin typeface="Cardo Bold" panose="02020804080000020003"/>
              <a:ea typeface="Cardo Bold" panose="02020804080000020003"/>
              <a:cs typeface="Cardo Bold" panose="02020804080000020003"/>
              <a:sym typeface="Cardo Bold" panose="02020804080000020003"/>
            </a:endParaRPr>
          </a:p>
        </p:txBody>
      </p:sp>
      <p:sp>
        <p:nvSpPr>
          <p:cNvPr id="43" name="TextBox 43"/>
          <p:cNvSpPr txBox="1"/>
          <p:nvPr/>
        </p:nvSpPr>
        <p:spPr>
          <a:xfrm>
            <a:off x="4266667" y="233458"/>
            <a:ext cx="2523639" cy="6660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885"/>
              </a:lnSpc>
            </a:pPr>
            <a:r>
              <a:rPr lang="en-US" sz="3490" b="1" spc="523">
                <a:solidFill>
                  <a:srgbClr val="860000"/>
                </a:solidFill>
                <a:latin typeface="Cardo Bold" panose="02020804080000020003"/>
                <a:ea typeface="Cardo Bold" panose="02020804080000020003"/>
                <a:cs typeface="Cardo Bold" panose="02020804080000020003"/>
                <a:sym typeface="Cardo Bold" panose="02020804080000020003"/>
              </a:rPr>
              <a:t>TRINITY</a:t>
            </a:r>
            <a:endParaRPr lang="en-US" sz="3490" b="1" spc="523">
              <a:solidFill>
                <a:srgbClr val="860000"/>
              </a:solidFill>
              <a:latin typeface="Cardo Bold" panose="02020804080000020003"/>
              <a:ea typeface="Cardo Bold" panose="02020804080000020003"/>
              <a:cs typeface="Cardo Bold" panose="02020804080000020003"/>
              <a:sym typeface="Cardo Bold" panose="02020804080000020003"/>
            </a:endParaRPr>
          </a:p>
        </p:txBody>
      </p:sp>
      <p:sp>
        <p:nvSpPr>
          <p:cNvPr id="44" name="TextBox 44"/>
          <p:cNvSpPr txBox="1"/>
          <p:nvPr/>
        </p:nvSpPr>
        <p:spPr>
          <a:xfrm>
            <a:off x="3927475" y="3504565"/>
            <a:ext cx="2710180" cy="27241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125"/>
              </a:lnSpc>
            </a:pPr>
            <a:r>
              <a:rPr lang="en-US" altLang="en-US" sz="1515">
                <a:solidFill>
                  <a:srgbClr val="0D1E4A"/>
                </a:solidFill>
                <a:latin typeface="Cardo" panose="02020600000000000000"/>
                <a:ea typeface="Cardo" panose="02020600000000000000"/>
                <a:cs typeface="Cardo" panose="02020600000000000000"/>
                <a:sym typeface="Cardo" panose="02020600000000000000"/>
              </a:rPr>
              <a:t>This certificate is awarded to</a:t>
            </a:r>
            <a:endParaRPr lang="en-US" altLang="en-US" sz="1515">
              <a:solidFill>
                <a:srgbClr val="0D1E4A"/>
              </a:solidFill>
              <a:latin typeface="Cardo" panose="02020600000000000000"/>
              <a:ea typeface="Cardo" panose="02020600000000000000"/>
              <a:cs typeface="Cardo" panose="02020600000000000000"/>
              <a:sym typeface="Cardo" panose="02020600000000000000"/>
            </a:endParaRPr>
          </a:p>
        </p:txBody>
      </p:sp>
      <p:sp>
        <p:nvSpPr>
          <p:cNvPr id="45" name="TextBox 45"/>
          <p:cNvSpPr txBox="1"/>
          <p:nvPr/>
        </p:nvSpPr>
        <p:spPr>
          <a:xfrm>
            <a:off x="3067685" y="6492875"/>
            <a:ext cx="4439920" cy="17145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340"/>
              </a:lnSpc>
            </a:pPr>
            <a:r>
              <a:rPr lang="en-US" altLang="en-US" sz="1100" b="1">
                <a:solidFill>
                  <a:srgbClr val="B20000"/>
                </a:solidFill>
                <a:latin typeface="Cardo Bold" panose="02020804080000020003"/>
                <a:ea typeface="Cardo Bold" panose="02020804080000020003"/>
                <a:cs typeface="Cardo Bold" panose="02020804080000020003"/>
                <a:sym typeface="Cardo Bold" panose="02020804080000020003"/>
              </a:rPr>
              <a:t>IDEAS TODAY, IMPACT TOMORROW.</a:t>
            </a:r>
            <a:endParaRPr lang="en-US" altLang="en-US" sz="1100" b="1">
              <a:solidFill>
                <a:srgbClr val="B20000"/>
              </a:solidFill>
              <a:latin typeface="Cardo Bold" panose="02020804080000020003"/>
              <a:ea typeface="Cardo Bold" panose="02020804080000020003"/>
              <a:cs typeface="Cardo Bold" panose="02020804080000020003"/>
              <a:sym typeface="Cardo Bold" panose="02020804080000020003"/>
            </a:endParaRPr>
          </a:p>
        </p:txBody>
      </p:sp>
      <p:sp>
        <p:nvSpPr>
          <p:cNvPr id="46" name="TextBox 46"/>
          <p:cNvSpPr txBox="1"/>
          <p:nvPr/>
        </p:nvSpPr>
        <p:spPr>
          <a:xfrm>
            <a:off x="3041266" y="7145445"/>
            <a:ext cx="1366056" cy="1231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65"/>
              </a:lnSpc>
            </a:pPr>
            <a:r>
              <a:rPr lang="en-US" sz="690" b="1">
                <a:solidFill>
                  <a:srgbClr val="0D1E4A"/>
                </a:solidFill>
                <a:latin typeface="Cardo Bold" panose="02020804080000020003"/>
                <a:ea typeface="Cardo Bold" panose="02020804080000020003"/>
                <a:cs typeface="Cardo Bold" panose="02020804080000020003"/>
                <a:sym typeface="Cardo Bold" panose="02020804080000020003"/>
              </a:rPr>
              <a:t>R&amp;D CHEF COORDINATOR</a:t>
            </a:r>
            <a:endParaRPr lang="en-US" sz="690" b="1">
              <a:solidFill>
                <a:srgbClr val="0D1E4A"/>
              </a:solidFill>
              <a:latin typeface="Cardo Bold" panose="02020804080000020003"/>
              <a:ea typeface="Cardo Bold" panose="02020804080000020003"/>
              <a:cs typeface="Cardo Bold" panose="02020804080000020003"/>
              <a:sym typeface="Cardo Bold" panose="02020804080000020003"/>
            </a:endParaRPr>
          </a:p>
        </p:txBody>
      </p:sp>
      <p:sp>
        <p:nvSpPr>
          <p:cNvPr id="47" name="TextBox 47"/>
          <p:cNvSpPr txBox="1"/>
          <p:nvPr/>
        </p:nvSpPr>
        <p:spPr>
          <a:xfrm>
            <a:off x="6993484" y="7135349"/>
            <a:ext cx="556060" cy="1434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40"/>
              </a:lnSpc>
            </a:pPr>
            <a:r>
              <a:rPr lang="en-US" sz="745" b="1">
                <a:solidFill>
                  <a:srgbClr val="0D1E4A"/>
                </a:solidFill>
                <a:latin typeface="Cardo Bold" panose="02020804080000020003"/>
                <a:ea typeface="Cardo Bold" panose="02020804080000020003"/>
                <a:cs typeface="Cardo Bold" panose="02020804080000020003"/>
                <a:sym typeface="Cardo Bold" panose="02020804080000020003"/>
              </a:rPr>
              <a:t>PRINCIPAL</a:t>
            </a:r>
            <a:endParaRPr lang="en-US" sz="745" b="1">
              <a:solidFill>
                <a:srgbClr val="0D1E4A"/>
              </a:solidFill>
              <a:latin typeface="Cardo Bold" panose="02020804080000020003"/>
              <a:ea typeface="Cardo Bold" panose="02020804080000020003"/>
              <a:cs typeface="Cardo Bold" panose="02020804080000020003"/>
              <a:sym typeface="Cardo Bold" panose="02020804080000020003"/>
            </a:endParaRPr>
          </a:p>
        </p:txBody>
      </p:sp>
      <p:sp>
        <p:nvSpPr>
          <p:cNvPr id="48" name="TextBox 48"/>
          <p:cNvSpPr txBox="1"/>
          <p:nvPr/>
        </p:nvSpPr>
        <p:spPr>
          <a:xfrm>
            <a:off x="4539310" y="7392514"/>
            <a:ext cx="2035254" cy="1333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85"/>
              </a:lnSpc>
            </a:pPr>
            <a:r>
              <a:rPr lang="en-US" sz="900" b="1">
                <a:solidFill>
                  <a:srgbClr val="C00000"/>
                </a:solidFill>
                <a:latin typeface="Cardo Bold" panose="02020804080000020003"/>
                <a:ea typeface="Cardo Bold" panose="02020804080000020003"/>
                <a:cs typeface="Cardo Bold" panose="02020804080000020003"/>
                <a:sym typeface="Cardo Bold" panose="02020804080000020003"/>
              </a:rPr>
              <a:t>Certificate ID : TCEK/RD/2026/H0001</a:t>
            </a:r>
            <a:endParaRPr lang="en-US" sz="900" b="1">
              <a:solidFill>
                <a:srgbClr val="C00000"/>
              </a:solidFill>
              <a:latin typeface="Cardo Bold" panose="02020804080000020003"/>
              <a:ea typeface="Cardo Bold" panose="02020804080000020003"/>
              <a:cs typeface="Cardo Bold" panose="02020804080000020003"/>
              <a:sym typeface="Cardo Bold" panose="02020804080000020003"/>
            </a:endParaRPr>
          </a:p>
        </p:txBody>
      </p:sp>
      <p:grpSp>
        <p:nvGrpSpPr>
          <p:cNvPr id="49" name="Group 49"/>
          <p:cNvGrpSpPr/>
          <p:nvPr/>
        </p:nvGrpSpPr>
        <p:grpSpPr>
          <a:xfrm rot="0">
            <a:off x="4505869" y="3087580"/>
            <a:ext cx="1497873" cy="236782"/>
            <a:chOff x="0" y="0"/>
            <a:chExt cx="2538971" cy="401358"/>
          </a:xfrm>
        </p:grpSpPr>
        <p:sp>
          <p:nvSpPr>
            <p:cNvPr id="50" name="Freeform 50"/>
            <p:cNvSpPr/>
            <p:nvPr/>
          </p:nvSpPr>
          <p:spPr>
            <a:xfrm>
              <a:off x="0" y="0"/>
              <a:ext cx="2539010" cy="401320"/>
            </a:xfrm>
            <a:custGeom>
              <a:avLst/>
              <a:gdLst/>
              <a:ahLst/>
              <a:cxnLst/>
              <a:rect l="l" t="t" r="r" b="b"/>
              <a:pathLst>
                <a:path w="2539010" h="401320">
                  <a:moveTo>
                    <a:pt x="0" y="0"/>
                  </a:moveTo>
                  <a:lnTo>
                    <a:pt x="2539010" y="0"/>
                  </a:lnTo>
                  <a:lnTo>
                    <a:pt x="2539010" y="401320"/>
                  </a:lnTo>
                  <a:lnTo>
                    <a:pt x="0" y="4013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1" t="-4670" b="-4680"/>
              </a:stretch>
            </a:blipFill>
          </p:spPr>
        </p:sp>
      </p:grpSp>
      <p:sp>
        <p:nvSpPr>
          <p:cNvPr id="51" name="TextBox 51"/>
          <p:cNvSpPr txBox="1"/>
          <p:nvPr/>
        </p:nvSpPr>
        <p:spPr>
          <a:xfrm>
            <a:off x="4726682" y="3098290"/>
            <a:ext cx="1122415" cy="2006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65"/>
              </a:lnSpc>
            </a:pPr>
            <a:r>
              <a:rPr lang="en-US" sz="1115" b="1">
                <a:solidFill>
                  <a:srgbClr val="FFFFFF"/>
                </a:solidFill>
                <a:latin typeface="Cardo Bold" panose="02020804080000020003"/>
                <a:ea typeface="Cardo Bold" panose="02020804080000020003"/>
                <a:cs typeface="Cardo Bold" panose="02020804080000020003"/>
                <a:sym typeface="Cardo Bold" panose="02020804080000020003"/>
              </a:rPr>
              <a:t>for </a:t>
            </a:r>
            <a:r>
              <a:rPr lang="en-US" altLang="en-US" sz="1115" b="1">
                <a:solidFill>
                  <a:srgbClr val="FFFFFF"/>
                </a:solidFill>
                <a:latin typeface="Cardo Bold" panose="02020804080000020003"/>
                <a:ea typeface="Cardo Bold" panose="02020804080000020003"/>
                <a:cs typeface="Cardo Bold" panose="02020804080000020003"/>
                <a:sym typeface="Cardo Bold" panose="02020804080000020003"/>
              </a:rPr>
              <a:t>Appreciation</a:t>
            </a:r>
            <a:endParaRPr lang="en-US" altLang="en-US" sz="1115" b="1">
              <a:solidFill>
                <a:srgbClr val="FFFFFF"/>
              </a:solidFill>
              <a:latin typeface="Cardo Bold" panose="02020804080000020003"/>
              <a:ea typeface="Cardo Bold" panose="02020804080000020003"/>
              <a:cs typeface="Cardo Bold" panose="02020804080000020003"/>
              <a:sym typeface="Cardo Bold" panose="02020804080000020003"/>
            </a:endParaRPr>
          </a:p>
        </p:txBody>
      </p:sp>
      <p:grpSp>
        <p:nvGrpSpPr>
          <p:cNvPr id="52" name="Group 52"/>
          <p:cNvGrpSpPr/>
          <p:nvPr/>
        </p:nvGrpSpPr>
        <p:grpSpPr>
          <a:xfrm rot="0">
            <a:off x="3666284" y="3055462"/>
            <a:ext cx="969300" cy="301019"/>
            <a:chOff x="0" y="0"/>
            <a:chExt cx="1292401" cy="401358"/>
          </a:xfrm>
        </p:grpSpPr>
        <p:sp>
          <p:nvSpPr>
            <p:cNvPr id="53" name="Freeform 53"/>
            <p:cNvSpPr/>
            <p:nvPr/>
          </p:nvSpPr>
          <p:spPr>
            <a:xfrm>
              <a:off x="0" y="0"/>
              <a:ext cx="1292348" cy="401320"/>
            </a:xfrm>
            <a:custGeom>
              <a:avLst/>
              <a:gdLst/>
              <a:ahLst/>
              <a:cxnLst/>
              <a:rect l="l" t="t" r="r" b="b"/>
              <a:pathLst>
                <a:path w="1292348" h="401320">
                  <a:moveTo>
                    <a:pt x="0" y="0"/>
                  </a:moveTo>
                  <a:lnTo>
                    <a:pt x="1292348" y="0"/>
                  </a:lnTo>
                  <a:lnTo>
                    <a:pt x="1292348" y="401320"/>
                  </a:lnTo>
                  <a:lnTo>
                    <a:pt x="0" y="4013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t="-1228" r="-4" b="-1237"/>
              </a:stretch>
            </a:blipFill>
          </p:spPr>
        </p:sp>
      </p:grpSp>
      <p:grpSp>
        <p:nvGrpSpPr>
          <p:cNvPr id="54" name="Group 54"/>
          <p:cNvGrpSpPr/>
          <p:nvPr/>
        </p:nvGrpSpPr>
        <p:grpSpPr>
          <a:xfrm rot="0">
            <a:off x="5984854" y="3055462"/>
            <a:ext cx="969300" cy="301019"/>
            <a:chOff x="0" y="0"/>
            <a:chExt cx="1292401" cy="401358"/>
          </a:xfrm>
        </p:grpSpPr>
        <p:sp>
          <p:nvSpPr>
            <p:cNvPr id="55" name="Freeform 55"/>
            <p:cNvSpPr/>
            <p:nvPr/>
          </p:nvSpPr>
          <p:spPr>
            <a:xfrm>
              <a:off x="0" y="0"/>
              <a:ext cx="1292348" cy="401320"/>
            </a:xfrm>
            <a:custGeom>
              <a:avLst/>
              <a:gdLst/>
              <a:ahLst/>
              <a:cxnLst/>
              <a:rect l="l" t="t" r="r" b="b"/>
              <a:pathLst>
                <a:path w="1292348" h="401320">
                  <a:moveTo>
                    <a:pt x="0" y="0"/>
                  </a:moveTo>
                  <a:lnTo>
                    <a:pt x="1292348" y="0"/>
                  </a:lnTo>
                  <a:lnTo>
                    <a:pt x="1292348" y="401320"/>
                  </a:lnTo>
                  <a:lnTo>
                    <a:pt x="0" y="4013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t="-1228" r="-4" b="-1237"/>
              </a:stretch>
            </a:blipFill>
          </p:spPr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911</Words>
  <Application>WPS Presentation</Application>
  <PresentationFormat>On-screen Show (4:3)</PresentationFormat>
  <Paragraphs>41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11" baseType="lpstr">
      <vt:lpstr>Arial</vt:lpstr>
      <vt:lpstr>SimSun</vt:lpstr>
      <vt:lpstr>Wingdings</vt:lpstr>
      <vt:lpstr>Cardo Bold</vt:lpstr>
      <vt:lpstr>Cardo</vt:lpstr>
      <vt:lpstr>Bebas Neue Bold</vt:lpstr>
      <vt:lpstr>Calibri</vt:lpstr>
      <vt:lpstr>Microsoft YaHei</vt:lpstr>
      <vt:lpstr>Arial Unicode MS</vt:lpstr>
      <vt:lpstr>Office Theme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CERTIFICATE_TEMPLATE - hackathon.pptx</dc:title>
  <dc:creator/>
  <cp:lastModifiedBy>Saicharan Bhuthkuri</cp:lastModifiedBy>
  <cp:revision>19</cp:revision>
  <dcterms:created xsi:type="dcterms:W3CDTF">2006-08-16T00:00:00Z</dcterms:created>
  <dcterms:modified xsi:type="dcterms:W3CDTF">2026-09-16T07:59:09Z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952C628C1D274A4F8A0BA40962B158B0_12</vt:lpwstr>
  </property>
  <property fmtid="{D5CDD505-2E9C-101B-9397-08002B2CF9AE}" pid="3" name="KSOProductBuildVer">
    <vt:lpwstr>1033-12.1.0.28485</vt:lpwstr>
  </property>
</Properties>
</file>