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fonts/font1.fntdata" ContentType="application/x-fontdata"/>
  <Override PartName="/ppt/fonts/font2.fntdata" ContentType="application/x-fontdata"/>
  <Override PartName="/ppt/fonts/font3.fntdata" ContentType="application/x-fontdata"/>
  <Override PartName="/ppt/fonts/font4.fntdata" ContentType="application/x-fontdata"/>
  <Override PartName="/ppt/fonts/font5.fntdata" ContentType="application/x-fontdata"/>
  <Override PartName="/ppt/fonts/font6.fntdata" ContentType="application/x-fontdata"/>
  <Override PartName="/ppt/fonts/font7.fntdata" ContentType="application/x-fontdata"/>
  <Override PartName="/ppt/fonts/font8.fntdata" ContentType="application/x-fontdata"/>
  <Override PartName="/ppt/fonts/font9.fntdata" ContentType="application/x-fontdata"/>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6" r:id="rId3"/>
  </p:sldIdLst>
  <p:sldSz cx="10693400" cy="7556500"/>
  <p:notesSz cx="6858000" cy="9144000"/>
  <p:embeddedFontLst>
    <p:embeddedFont>
      <p:font typeface="Cardo Bold" panose="02020804080000020003"/>
      <p:bold r:id="rId7"/>
    </p:embeddedFont>
    <p:embeddedFont>
      <p:font typeface="Cardo" panose="02020600000000000000"/>
      <p:regular r:id="rId8"/>
      <p:bold r:id="rId9"/>
      <p:italic r:id="rId10"/>
    </p:embeddedFont>
    <p:embeddedFont>
      <p:font typeface="Bebas Neue Bold" panose="020B0606020202050201"/>
      <p:bold r:id="rId11"/>
    </p:embeddedFont>
    <p:embeddedFont>
      <p:font typeface="Calibri" panose="020F0502020204030204" charset="0"/>
      <p:regular r:id="rId12"/>
      <p:bold r:id="rId13"/>
      <p:italic r:id="rId14"/>
      <p:boldItalic r:id="rId15"/>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208" userDrawn="1">
          <p15:clr>
            <a:srgbClr val="A4A3A4"/>
          </p15:clr>
        </p15:guide>
        <p15:guide id="2" pos="292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showGuides="1">
      <p:cViewPr varScale="1">
        <p:scale>
          <a:sx n="74" d="100"/>
          <a:sy n="74" d="100"/>
        </p:scale>
        <p:origin x="-1092" y="-90"/>
      </p:cViewPr>
      <p:guideLst>
        <p:guide orient="horz" pos="2208"/>
        <p:guide pos="292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font" Target="fonts/font3.fntdata"/><Relationship Id="rId8" Type="http://schemas.openxmlformats.org/officeDocument/2006/relationships/font" Target="fonts/font2.fntdata"/><Relationship Id="rId7" Type="http://schemas.openxmlformats.org/officeDocument/2006/relationships/font" Target="fonts/font1.fntdata"/><Relationship Id="rId6" Type="http://schemas.openxmlformats.org/officeDocument/2006/relationships/tableStyles" Target="tableStyles.xml"/><Relationship Id="rId5" Type="http://schemas.openxmlformats.org/officeDocument/2006/relationships/viewProps" Target="viewProps.xml"/><Relationship Id="rId4" Type="http://schemas.openxmlformats.org/officeDocument/2006/relationships/presProps" Target="presProps.xml"/><Relationship Id="rId3" Type="http://schemas.openxmlformats.org/officeDocument/2006/relationships/slide" Target="slides/slide1.xml"/><Relationship Id="rId2" Type="http://schemas.openxmlformats.org/officeDocument/2006/relationships/theme" Target="theme/theme1.xml"/><Relationship Id="rId15" Type="http://schemas.openxmlformats.org/officeDocument/2006/relationships/font" Target="fonts/font9.fntdata"/><Relationship Id="rId14" Type="http://schemas.openxmlformats.org/officeDocument/2006/relationships/font" Target="fonts/font8.fntdata"/><Relationship Id="rId13" Type="http://schemas.openxmlformats.org/officeDocument/2006/relationships/font" Target="fonts/font7.fntdata"/><Relationship Id="rId12" Type="http://schemas.openxmlformats.org/officeDocument/2006/relationships/font" Target="fonts/font6.fntdata"/><Relationship Id="rId11" Type="http://schemas.openxmlformats.org/officeDocument/2006/relationships/font" Target="fonts/font5.fntdata"/><Relationship Id="rId10" Type="http://schemas.openxmlformats.org/officeDocument/2006/relationships/font" Target="fonts/font4.fntdata"/><Relationship Id="rId1" Type="http://schemas.openxmlformats.org/officeDocument/2006/relationships/slideMaster" Target="slideMasters/slideMaster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endParaRPr lang="en-US" smtClean="0"/>
          </a:p>
        </p:txBody>
      </p:sp>
      <p:sp>
        <p:nvSpPr>
          <p:cNvPr id="4" name="Date Placeholder 3"/>
          <p:cNvSpPr>
            <a:spLocks noGrp="1"/>
          </p:cNvSpPr>
          <p:nvPr>
            <p:ph type="dt" sz="half" idx="10"/>
          </p:nvPr>
        </p:nvSpPr>
        <p:spPr/>
        <p:txBody>
          <a:bodyPr/>
          <a:lstStyle/>
          <a:p>
            <a:fld id="{1D8BD707-D9CF-40AE-B4C6-C98DA3205C09}"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1D8BD707-D9CF-40AE-B4C6-C98DA3205C09}"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1D8BD707-D9CF-40AE-B4C6-C98DA3205C09}"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9" Type="http://schemas.openxmlformats.org/officeDocument/2006/relationships/image" Target="../media/image9.png"/><Relationship Id="rId8" Type="http://schemas.openxmlformats.org/officeDocument/2006/relationships/image" Target="../media/image8.png"/><Relationship Id="rId7" Type="http://schemas.openxmlformats.org/officeDocument/2006/relationships/image" Target="../media/image7.png"/><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 Id="rId3" Type="http://schemas.openxmlformats.org/officeDocument/2006/relationships/image" Target="../media/image3.png"/><Relationship Id="rId2" Type="http://schemas.openxmlformats.org/officeDocument/2006/relationships/image" Target="../media/image2.png"/><Relationship Id="rId19" Type="http://schemas.openxmlformats.org/officeDocument/2006/relationships/slideLayout" Target="../slideLayouts/slideLayout7.xml"/><Relationship Id="rId18" Type="http://schemas.openxmlformats.org/officeDocument/2006/relationships/image" Target="../media/image18.png"/><Relationship Id="rId17" Type="http://schemas.openxmlformats.org/officeDocument/2006/relationships/image" Target="../media/image17.png"/><Relationship Id="rId16" Type="http://schemas.openxmlformats.org/officeDocument/2006/relationships/image" Target="../media/image16.png"/><Relationship Id="rId15" Type="http://schemas.openxmlformats.org/officeDocument/2006/relationships/image" Target="../media/image15.png"/><Relationship Id="rId14" Type="http://schemas.openxmlformats.org/officeDocument/2006/relationships/image" Target="../media/image14.png"/><Relationship Id="rId13" Type="http://schemas.openxmlformats.org/officeDocument/2006/relationships/image" Target="../media/image13.png"/><Relationship Id="rId12" Type="http://schemas.openxmlformats.org/officeDocument/2006/relationships/image" Target="../media/image12.png"/><Relationship Id="rId11" Type="http://schemas.openxmlformats.org/officeDocument/2006/relationships/image" Target="../media/image11.png"/><Relationship Id="rId10" Type="http://schemas.openxmlformats.org/officeDocument/2006/relationships/image" Target="../media/image10.png"/><Relationship Id="rId1"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0693400" cy="7605395"/>
          </a:xfrm>
          <a:custGeom>
            <a:avLst/>
            <a:gdLst/>
            <a:ahLst/>
            <a:cxnLst/>
            <a:rect l="l" t="t" r="r" b="b"/>
            <a:pathLst>
              <a:path w="10759393" h="7605546">
                <a:moveTo>
                  <a:pt x="0" y="0"/>
                </a:moveTo>
                <a:lnTo>
                  <a:pt x="10759393" y="0"/>
                </a:lnTo>
                <a:lnTo>
                  <a:pt x="10759393" y="7605546"/>
                </a:lnTo>
                <a:lnTo>
                  <a:pt x="0" y="7605546"/>
                </a:lnTo>
                <a:lnTo>
                  <a:pt x="0" y="0"/>
                </a:lnTo>
                <a:close/>
              </a:path>
            </a:pathLst>
          </a:custGeom>
          <a:blipFill>
            <a:blip r:embed="rId1"/>
            <a:stretch>
              <a:fillRect/>
            </a:stretch>
          </a:blipFill>
        </p:spPr>
      </p:sp>
      <p:grpSp>
        <p:nvGrpSpPr>
          <p:cNvPr id="3" name="Group 3"/>
          <p:cNvGrpSpPr/>
          <p:nvPr/>
        </p:nvGrpSpPr>
        <p:grpSpPr>
          <a:xfrm rot="0">
            <a:off x="3605079" y="1447762"/>
            <a:ext cx="946061" cy="301019"/>
            <a:chOff x="0" y="0"/>
            <a:chExt cx="1261415" cy="401358"/>
          </a:xfrm>
        </p:grpSpPr>
        <p:sp>
          <p:nvSpPr>
            <p:cNvPr id="4" name="Freeform 4"/>
            <p:cNvSpPr/>
            <p:nvPr/>
          </p:nvSpPr>
          <p:spPr>
            <a:xfrm>
              <a:off x="0" y="0"/>
              <a:ext cx="1261364" cy="401320"/>
            </a:xfrm>
            <a:custGeom>
              <a:avLst/>
              <a:gdLst/>
              <a:ahLst/>
              <a:cxnLst/>
              <a:rect l="l" t="t" r="r" b="b"/>
              <a:pathLst>
                <a:path w="1261364" h="401320">
                  <a:moveTo>
                    <a:pt x="0" y="0"/>
                  </a:moveTo>
                  <a:lnTo>
                    <a:pt x="1261364" y="0"/>
                  </a:lnTo>
                  <a:lnTo>
                    <a:pt x="1261364" y="401320"/>
                  </a:lnTo>
                  <a:lnTo>
                    <a:pt x="0" y="401320"/>
                  </a:lnTo>
                  <a:lnTo>
                    <a:pt x="0" y="0"/>
                  </a:lnTo>
                  <a:close/>
                </a:path>
              </a:pathLst>
            </a:custGeom>
            <a:blipFill>
              <a:blip r:embed="rId2"/>
              <a:stretch>
                <a:fillRect r="-4" b="-9"/>
              </a:stretch>
            </a:blipFill>
          </p:spPr>
        </p:sp>
      </p:grpSp>
      <p:grpSp>
        <p:nvGrpSpPr>
          <p:cNvPr id="5" name="Group 5"/>
          <p:cNvGrpSpPr/>
          <p:nvPr/>
        </p:nvGrpSpPr>
        <p:grpSpPr>
          <a:xfrm rot="0">
            <a:off x="4407799" y="1447762"/>
            <a:ext cx="1741618" cy="301019"/>
            <a:chOff x="0" y="0"/>
            <a:chExt cx="2322157" cy="401358"/>
          </a:xfrm>
        </p:grpSpPr>
        <p:sp>
          <p:nvSpPr>
            <p:cNvPr id="6" name="Freeform 6"/>
            <p:cNvSpPr/>
            <p:nvPr/>
          </p:nvSpPr>
          <p:spPr>
            <a:xfrm>
              <a:off x="0" y="0"/>
              <a:ext cx="2322195" cy="401320"/>
            </a:xfrm>
            <a:custGeom>
              <a:avLst/>
              <a:gdLst/>
              <a:ahLst/>
              <a:cxnLst/>
              <a:rect l="l" t="t" r="r" b="b"/>
              <a:pathLst>
                <a:path w="2322195" h="401320">
                  <a:moveTo>
                    <a:pt x="0" y="0"/>
                  </a:moveTo>
                  <a:lnTo>
                    <a:pt x="2322195" y="0"/>
                  </a:lnTo>
                  <a:lnTo>
                    <a:pt x="2322195" y="401320"/>
                  </a:lnTo>
                  <a:lnTo>
                    <a:pt x="0" y="401320"/>
                  </a:lnTo>
                  <a:lnTo>
                    <a:pt x="0" y="0"/>
                  </a:lnTo>
                  <a:close/>
                </a:path>
              </a:pathLst>
            </a:custGeom>
            <a:blipFill>
              <a:blip r:embed="rId3"/>
              <a:stretch>
                <a:fillRect r="1" b="-9"/>
              </a:stretch>
            </a:blipFill>
          </p:spPr>
        </p:sp>
      </p:grpSp>
      <p:grpSp>
        <p:nvGrpSpPr>
          <p:cNvPr id="7" name="Group 7"/>
          <p:cNvGrpSpPr/>
          <p:nvPr/>
        </p:nvGrpSpPr>
        <p:grpSpPr>
          <a:xfrm rot="0">
            <a:off x="6142253" y="1447762"/>
            <a:ext cx="946061" cy="301019"/>
            <a:chOff x="0" y="0"/>
            <a:chExt cx="1261415" cy="401358"/>
          </a:xfrm>
        </p:grpSpPr>
        <p:sp>
          <p:nvSpPr>
            <p:cNvPr id="8" name="Freeform 8"/>
            <p:cNvSpPr/>
            <p:nvPr/>
          </p:nvSpPr>
          <p:spPr>
            <a:xfrm>
              <a:off x="0" y="0"/>
              <a:ext cx="1261364" cy="401320"/>
            </a:xfrm>
            <a:custGeom>
              <a:avLst/>
              <a:gdLst/>
              <a:ahLst/>
              <a:cxnLst/>
              <a:rect l="l" t="t" r="r" b="b"/>
              <a:pathLst>
                <a:path w="1261364" h="401320">
                  <a:moveTo>
                    <a:pt x="0" y="0"/>
                  </a:moveTo>
                  <a:lnTo>
                    <a:pt x="1261364" y="0"/>
                  </a:lnTo>
                  <a:lnTo>
                    <a:pt x="1261364" y="401320"/>
                  </a:lnTo>
                  <a:lnTo>
                    <a:pt x="0" y="401320"/>
                  </a:lnTo>
                  <a:lnTo>
                    <a:pt x="0" y="0"/>
                  </a:lnTo>
                  <a:close/>
                </a:path>
              </a:pathLst>
            </a:custGeom>
            <a:blipFill>
              <a:blip r:embed="rId4"/>
              <a:stretch>
                <a:fillRect r="-4" b="-9"/>
              </a:stretch>
            </a:blipFill>
          </p:spPr>
        </p:sp>
      </p:grpSp>
      <p:grpSp>
        <p:nvGrpSpPr>
          <p:cNvPr id="9" name="Group 9"/>
          <p:cNvGrpSpPr/>
          <p:nvPr/>
        </p:nvGrpSpPr>
        <p:grpSpPr>
          <a:xfrm rot="0">
            <a:off x="3605079" y="2322157"/>
            <a:ext cx="673713" cy="150514"/>
            <a:chOff x="0" y="0"/>
            <a:chExt cx="898284" cy="200685"/>
          </a:xfrm>
        </p:grpSpPr>
        <p:sp>
          <p:nvSpPr>
            <p:cNvPr id="10" name="Freeform 10"/>
            <p:cNvSpPr/>
            <p:nvPr/>
          </p:nvSpPr>
          <p:spPr>
            <a:xfrm>
              <a:off x="0" y="0"/>
              <a:ext cx="898271" cy="200660"/>
            </a:xfrm>
            <a:custGeom>
              <a:avLst/>
              <a:gdLst/>
              <a:ahLst/>
              <a:cxnLst/>
              <a:rect l="l" t="t" r="r" b="b"/>
              <a:pathLst>
                <a:path w="898271" h="200660">
                  <a:moveTo>
                    <a:pt x="0" y="0"/>
                  </a:moveTo>
                  <a:lnTo>
                    <a:pt x="898271" y="0"/>
                  </a:lnTo>
                  <a:lnTo>
                    <a:pt x="898271" y="200660"/>
                  </a:lnTo>
                  <a:lnTo>
                    <a:pt x="0" y="200660"/>
                  </a:lnTo>
                  <a:lnTo>
                    <a:pt x="0" y="0"/>
                  </a:lnTo>
                  <a:close/>
                </a:path>
              </a:pathLst>
            </a:custGeom>
            <a:blipFill>
              <a:blip r:embed="rId5"/>
              <a:stretch>
                <a:fillRect r="-1" b="-12"/>
              </a:stretch>
            </a:blipFill>
          </p:spPr>
        </p:sp>
      </p:grpSp>
      <p:sp>
        <p:nvSpPr>
          <p:cNvPr id="11" name="TextBox 11"/>
          <p:cNvSpPr txBox="1"/>
          <p:nvPr/>
        </p:nvSpPr>
        <p:spPr>
          <a:xfrm>
            <a:off x="4320130" y="2238165"/>
            <a:ext cx="630907" cy="173888"/>
          </a:xfrm>
          <a:prstGeom prst="rect">
            <a:avLst/>
          </a:prstGeom>
        </p:spPr>
        <p:txBody>
          <a:bodyPr lIns="0" tIns="0" rIns="0" bIns="0" rtlCol="0" anchor="t">
            <a:spAutoFit/>
          </a:bodyPr>
          <a:lstStyle/>
          <a:p>
            <a:pPr algn="ctr">
              <a:lnSpc>
                <a:spcPts val="1340"/>
              </a:lnSpc>
            </a:pPr>
            <a:r>
              <a:rPr lang="en-US" sz="960" b="1">
                <a:solidFill>
                  <a:srgbClr val="B20000"/>
                </a:solidFill>
                <a:latin typeface="Cardo Bold" panose="02020804080000020003"/>
                <a:ea typeface="Cardo Bold" panose="02020804080000020003"/>
                <a:cs typeface="Cardo Bold" panose="02020804080000020003"/>
                <a:sym typeface="Cardo Bold" panose="02020804080000020003"/>
              </a:rPr>
              <a:t>DIPLOMA</a:t>
            </a:r>
            <a:endParaRPr lang="en-US" sz="960" b="1">
              <a:solidFill>
                <a:srgbClr val="B20000"/>
              </a:solidFill>
              <a:latin typeface="Cardo Bold" panose="02020804080000020003"/>
              <a:ea typeface="Cardo Bold" panose="02020804080000020003"/>
              <a:cs typeface="Cardo Bold" panose="02020804080000020003"/>
              <a:sym typeface="Cardo Bold" panose="02020804080000020003"/>
            </a:endParaRPr>
          </a:p>
        </p:txBody>
      </p:sp>
      <p:grpSp>
        <p:nvGrpSpPr>
          <p:cNvPr id="12" name="Group 12"/>
          <p:cNvGrpSpPr/>
          <p:nvPr/>
        </p:nvGrpSpPr>
        <p:grpSpPr>
          <a:xfrm rot="0">
            <a:off x="4945342" y="2178815"/>
            <a:ext cx="136179" cy="293856"/>
            <a:chOff x="0" y="0"/>
            <a:chExt cx="181572" cy="391808"/>
          </a:xfrm>
        </p:grpSpPr>
        <p:sp>
          <p:nvSpPr>
            <p:cNvPr id="13" name="Freeform 13"/>
            <p:cNvSpPr/>
            <p:nvPr/>
          </p:nvSpPr>
          <p:spPr>
            <a:xfrm>
              <a:off x="0" y="0"/>
              <a:ext cx="181610" cy="391795"/>
            </a:xfrm>
            <a:custGeom>
              <a:avLst/>
              <a:gdLst/>
              <a:ahLst/>
              <a:cxnLst/>
              <a:rect l="l" t="t" r="r" b="b"/>
              <a:pathLst>
                <a:path w="181610" h="391795">
                  <a:moveTo>
                    <a:pt x="0" y="0"/>
                  </a:moveTo>
                  <a:lnTo>
                    <a:pt x="181610" y="0"/>
                  </a:lnTo>
                  <a:lnTo>
                    <a:pt x="181610" y="391795"/>
                  </a:lnTo>
                  <a:lnTo>
                    <a:pt x="0" y="391795"/>
                  </a:lnTo>
                  <a:lnTo>
                    <a:pt x="0" y="0"/>
                  </a:lnTo>
                  <a:close/>
                </a:path>
              </a:pathLst>
            </a:custGeom>
            <a:blipFill>
              <a:blip r:embed="rId6"/>
              <a:stretch>
                <a:fillRect r="20" b="-3"/>
              </a:stretch>
            </a:blipFill>
          </p:spPr>
        </p:sp>
      </p:grpSp>
      <p:grpSp>
        <p:nvGrpSpPr>
          <p:cNvPr id="14" name="Group 14"/>
          <p:cNvGrpSpPr/>
          <p:nvPr/>
        </p:nvGrpSpPr>
        <p:grpSpPr>
          <a:xfrm rot="0">
            <a:off x="5740889" y="2178815"/>
            <a:ext cx="279521" cy="293856"/>
            <a:chOff x="0" y="0"/>
            <a:chExt cx="372694" cy="391808"/>
          </a:xfrm>
        </p:grpSpPr>
        <p:sp>
          <p:nvSpPr>
            <p:cNvPr id="15" name="Freeform 15"/>
            <p:cNvSpPr/>
            <p:nvPr/>
          </p:nvSpPr>
          <p:spPr>
            <a:xfrm>
              <a:off x="0" y="0"/>
              <a:ext cx="372745" cy="391795"/>
            </a:xfrm>
            <a:custGeom>
              <a:avLst/>
              <a:gdLst/>
              <a:ahLst/>
              <a:cxnLst/>
              <a:rect l="l" t="t" r="r" b="b"/>
              <a:pathLst>
                <a:path w="372745" h="391795">
                  <a:moveTo>
                    <a:pt x="0" y="0"/>
                  </a:moveTo>
                  <a:lnTo>
                    <a:pt x="372745" y="0"/>
                  </a:lnTo>
                  <a:lnTo>
                    <a:pt x="372745" y="391795"/>
                  </a:lnTo>
                  <a:lnTo>
                    <a:pt x="0" y="391795"/>
                  </a:lnTo>
                  <a:lnTo>
                    <a:pt x="0" y="0"/>
                  </a:lnTo>
                  <a:close/>
                </a:path>
              </a:pathLst>
            </a:custGeom>
            <a:blipFill>
              <a:blip r:embed="rId7"/>
              <a:stretch>
                <a:fillRect r="13" b="-3"/>
              </a:stretch>
            </a:blipFill>
          </p:spPr>
        </p:sp>
      </p:grpSp>
      <p:grpSp>
        <p:nvGrpSpPr>
          <p:cNvPr id="16" name="Group 16"/>
          <p:cNvGrpSpPr/>
          <p:nvPr/>
        </p:nvGrpSpPr>
        <p:grpSpPr>
          <a:xfrm rot="0">
            <a:off x="6414611" y="2322157"/>
            <a:ext cx="673713" cy="150514"/>
            <a:chOff x="0" y="0"/>
            <a:chExt cx="898284" cy="200685"/>
          </a:xfrm>
        </p:grpSpPr>
        <p:sp>
          <p:nvSpPr>
            <p:cNvPr id="17" name="Freeform 17"/>
            <p:cNvSpPr/>
            <p:nvPr/>
          </p:nvSpPr>
          <p:spPr>
            <a:xfrm>
              <a:off x="0" y="0"/>
              <a:ext cx="898271" cy="200660"/>
            </a:xfrm>
            <a:custGeom>
              <a:avLst/>
              <a:gdLst/>
              <a:ahLst/>
              <a:cxnLst/>
              <a:rect l="l" t="t" r="r" b="b"/>
              <a:pathLst>
                <a:path w="898271" h="200660">
                  <a:moveTo>
                    <a:pt x="0" y="0"/>
                  </a:moveTo>
                  <a:lnTo>
                    <a:pt x="898271" y="0"/>
                  </a:lnTo>
                  <a:lnTo>
                    <a:pt x="898271" y="200660"/>
                  </a:lnTo>
                  <a:lnTo>
                    <a:pt x="0" y="200660"/>
                  </a:lnTo>
                  <a:lnTo>
                    <a:pt x="0" y="0"/>
                  </a:lnTo>
                  <a:close/>
                </a:path>
              </a:pathLst>
            </a:custGeom>
            <a:blipFill>
              <a:blip r:embed="rId8"/>
              <a:stretch>
                <a:fillRect r="-1" b="-12"/>
              </a:stretch>
            </a:blipFill>
          </p:spPr>
        </p:sp>
      </p:grpSp>
      <p:grpSp>
        <p:nvGrpSpPr>
          <p:cNvPr id="18" name="Group 18"/>
          <p:cNvGrpSpPr/>
          <p:nvPr/>
        </p:nvGrpSpPr>
        <p:grpSpPr>
          <a:xfrm rot="0">
            <a:off x="955730" y="465679"/>
            <a:ext cx="732671" cy="867591"/>
            <a:chOff x="0" y="0"/>
            <a:chExt cx="4099611" cy="4854550"/>
          </a:xfrm>
        </p:grpSpPr>
        <p:sp>
          <p:nvSpPr>
            <p:cNvPr id="19" name="Freeform 19"/>
            <p:cNvSpPr/>
            <p:nvPr/>
          </p:nvSpPr>
          <p:spPr>
            <a:xfrm>
              <a:off x="0" y="0"/>
              <a:ext cx="4099560" cy="4854575"/>
            </a:xfrm>
            <a:custGeom>
              <a:avLst/>
              <a:gdLst/>
              <a:ahLst/>
              <a:cxnLst/>
              <a:rect l="l" t="t" r="r" b="b"/>
              <a:pathLst>
                <a:path w="4099560" h="4854575">
                  <a:moveTo>
                    <a:pt x="0" y="0"/>
                  </a:moveTo>
                  <a:lnTo>
                    <a:pt x="4099560" y="0"/>
                  </a:lnTo>
                  <a:lnTo>
                    <a:pt x="4099560" y="4854575"/>
                  </a:lnTo>
                  <a:lnTo>
                    <a:pt x="0" y="4854575"/>
                  </a:lnTo>
                  <a:lnTo>
                    <a:pt x="0" y="0"/>
                  </a:lnTo>
                  <a:close/>
                </a:path>
              </a:pathLst>
            </a:custGeom>
            <a:blipFill>
              <a:blip r:embed="rId9"/>
              <a:stretch>
                <a:fillRect l="-3850" r="-3850"/>
              </a:stretch>
            </a:blipFill>
          </p:spPr>
        </p:sp>
      </p:grpSp>
      <p:grpSp>
        <p:nvGrpSpPr>
          <p:cNvPr id="20" name="Group 20"/>
          <p:cNvGrpSpPr/>
          <p:nvPr/>
        </p:nvGrpSpPr>
        <p:grpSpPr>
          <a:xfrm rot="0">
            <a:off x="2673353" y="4208768"/>
            <a:ext cx="5217690" cy="150514"/>
            <a:chOff x="0" y="0"/>
            <a:chExt cx="6956920" cy="200685"/>
          </a:xfrm>
        </p:grpSpPr>
        <p:sp>
          <p:nvSpPr>
            <p:cNvPr id="21" name="Freeform 21"/>
            <p:cNvSpPr/>
            <p:nvPr/>
          </p:nvSpPr>
          <p:spPr>
            <a:xfrm>
              <a:off x="0" y="0"/>
              <a:ext cx="6956933" cy="200660"/>
            </a:xfrm>
            <a:custGeom>
              <a:avLst/>
              <a:gdLst/>
              <a:ahLst/>
              <a:cxnLst/>
              <a:rect l="l" t="t" r="r" b="b"/>
              <a:pathLst>
                <a:path w="6956933" h="200660">
                  <a:moveTo>
                    <a:pt x="0" y="0"/>
                  </a:moveTo>
                  <a:lnTo>
                    <a:pt x="6956933" y="0"/>
                  </a:lnTo>
                  <a:lnTo>
                    <a:pt x="6956933" y="200660"/>
                  </a:lnTo>
                  <a:lnTo>
                    <a:pt x="0" y="200660"/>
                  </a:lnTo>
                  <a:lnTo>
                    <a:pt x="0" y="0"/>
                  </a:lnTo>
                  <a:close/>
                </a:path>
              </a:pathLst>
            </a:custGeom>
            <a:blipFill>
              <a:blip r:embed="rId10"/>
              <a:stretch>
                <a:fillRect b="-12"/>
              </a:stretch>
            </a:blipFill>
          </p:spPr>
        </p:sp>
      </p:grpSp>
      <p:grpSp>
        <p:nvGrpSpPr>
          <p:cNvPr id="22" name="Group 22"/>
          <p:cNvGrpSpPr/>
          <p:nvPr/>
        </p:nvGrpSpPr>
        <p:grpSpPr>
          <a:xfrm rot="0">
            <a:off x="6713811" y="6488382"/>
            <a:ext cx="1263739" cy="759038"/>
            <a:chOff x="0" y="0"/>
            <a:chExt cx="1684985" cy="1012050"/>
          </a:xfrm>
        </p:grpSpPr>
        <p:sp>
          <p:nvSpPr>
            <p:cNvPr id="23" name="Freeform 23"/>
            <p:cNvSpPr/>
            <p:nvPr/>
          </p:nvSpPr>
          <p:spPr>
            <a:xfrm>
              <a:off x="0" y="0"/>
              <a:ext cx="1685036" cy="1012063"/>
            </a:xfrm>
            <a:custGeom>
              <a:avLst/>
              <a:gdLst/>
              <a:ahLst/>
              <a:cxnLst/>
              <a:rect l="l" t="t" r="r" b="b"/>
              <a:pathLst>
                <a:path w="1685036" h="1012063">
                  <a:moveTo>
                    <a:pt x="0" y="0"/>
                  </a:moveTo>
                  <a:lnTo>
                    <a:pt x="1685036" y="0"/>
                  </a:lnTo>
                  <a:lnTo>
                    <a:pt x="1685036" y="1012063"/>
                  </a:lnTo>
                  <a:lnTo>
                    <a:pt x="0" y="1012063"/>
                  </a:lnTo>
                  <a:lnTo>
                    <a:pt x="0" y="0"/>
                  </a:lnTo>
                  <a:close/>
                </a:path>
              </a:pathLst>
            </a:custGeom>
            <a:blipFill>
              <a:blip r:embed="rId11"/>
              <a:stretch>
                <a:fillRect t="-121" r="3" b="-119"/>
              </a:stretch>
            </a:blipFill>
          </p:spPr>
        </p:sp>
      </p:grpSp>
      <p:grpSp>
        <p:nvGrpSpPr>
          <p:cNvPr id="24" name="Group 24"/>
          <p:cNvGrpSpPr/>
          <p:nvPr/>
        </p:nvGrpSpPr>
        <p:grpSpPr>
          <a:xfrm rot="0">
            <a:off x="3157357" y="6435033"/>
            <a:ext cx="1077982" cy="947195"/>
            <a:chOff x="0" y="0"/>
            <a:chExt cx="1437310" cy="1262926"/>
          </a:xfrm>
        </p:grpSpPr>
        <p:sp>
          <p:nvSpPr>
            <p:cNvPr id="25" name="Freeform 25"/>
            <p:cNvSpPr/>
            <p:nvPr/>
          </p:nvSpPr>
          <p:spPr>
            <a:xfrm>
              <a:off x="0" y="0"/>
              <a:ext cx="1437259" cy="1262888"/>
            </a:xfrm>
            <a:custGeom>
              <a:avLst/>
              <a:gdLst/>
              <a:ahLst/>
              <a:cxnLst/>
              <a:rect l="l" t="t" r="r" b="b"/>
              <a:pathLst>
                <a:path w="1437259" h="1262888">
                  <a:moveTo>
                    <a:pt x="0" y="0"/>
                  </a:moveTo>
                  <a:lnTo>
                    <a:pt x="1437259" y="0"/>
                  </a:lnTo>
                  <a:lnTo>
                    <a:pt x="1437259" y="1262888"/>
                  </a:lnTo>
                  <a:lnTo>
                    <a:pt x="0" y="1262888"/>
                  </a:lnTo>
                  <a:lnTo>
                    <a:pt x="0" y="0"/>
                  </a:lnTo>
                  <a:close/>
                </a:path>
              </a:pathLst>
            </a:custGeom>
            <a:blipFill>
              <a:blip r:embed="rId12"/>
              <a:stretch>
                <a:fillRect l="-83" r="-88" b="-3"/>
              </a:stretch>
            </a:blipFill>
          </p:spPr>
        </p:sp>
      </p:grpSp>
      <p:sp>
        <p:nvSpPr>
          <p:cNvPr id="26" name="Freeform 26"/>
          <p:cNvSpPr/>
          <p:nvPr/>
        </p:nvSpPr>
        <p:spPr>
          <a:xfrm>
            <a:off x="8052568" y="379714"/>
            <a:ext cx="752572" cy="752572"/>
          </a:xfrm>
          <a:custGeom>
            <a:avLst/>
            <a:gdLst/>
            <a:ahLst/>
            <a:cxnLst/>
            <a:rect l="l" t="t" r="r" b="b"/>
            <a:pathLst>
              <a:path w="752572" h="752572">
                <a:moveTo>
                  <a:pt x="0" y="0"/>
                </a:moveTo>
                <a:lnTo>
                  <a:pt x="752572" y="0"/>
                </a:lnTo>
                <a:lnTo>
                  <a:pt x="752572" y="752572"/>
                </a:lnTo>
                <a:lnTo>
                  <a:pt x="0" y="752572"/>
                </a:lnTo>
                <a:lnTo>
                  <a:pt x="0" y="0"/>
                </a:lnTo>
                <a:close/>
              </a:path>
            </a:pathLst>
          </a:custGeom>
          <a:blipFill>
            <a:blip r:embed="rId13"/>
            <a:stretch>
              <a:fillRect/>
            </a:stretch>
          </a:blipFill>
        </p:spPr>
      </p:sp>
      <p:sp>
        <p:nvSpPr>
          <p:cNvPr id="27" name="Freeform 27"/>
          <p:cNvSpPr/>
          <p:nvPr/>
        </p:nvSpPr>
        <p:spPr>
          <a:xfrm>
            <a:off x="1877461" y="516821"/>
            <a:ext cx="853127" cy="722310"/>
          </a:xfrm>
          <a:custGeom>
            <a:avLst/>
            <a:gdLst/>
            <a:ahLst/>
            <a:cxnLst/>
            <a:rect l="l" t="t" r="r" b="b"/>
            <a:pathLst>
              <a:path w="853127" h="722310">
                <a:moveTo>
                  <a:pt x="0" y="0"/>
                </a:moveTo>
                <a:lnTo>
                  <a:pt x="853127" y="0"/>
                </a:lnTo>
                <a:lnTo>
                  <a:pt x="853127" y="722311"/>
                </a:lnTo>
                <a:lnTo>
                  <a:pt x="0" y="722311"/>
                </a:lnTo>
                <a:lnTo>
                  <a:pt x="0" y="0"/>
                </a:lnTo>
                <a:close/>
              </a:path>
            </a:pathLst>
          </a:custGeom>
          <a:blipFill>
            <a:blip r:embed="rId14"/>
            <a:stretch>
              <a:fillRect/>
            </a:stretch>
          </a:blipFill>
        </p:spPr>
      </p:sp>
      <p:sp>
        <p:nvSpPr>
          <p:cNvPr id="28" name="Freeform 28"/>
          <p:cNvSpPr/>
          <p:nvPr/>
        </p:nvSpPr>
        <p:spPr>
          <a:xfrm>
            <a:off x="955730" y="1529822"/>
            <a:ext cx="773426" cy="817169"/>
          </a:xfrm>
          <a:custGeom>
            <a:avLst/>
            <a:gdLst/>
            <a:ahLst/>
            <a:cxnLst/>
            <a:rect l="l" t="t" r="r" b="b"/>
            <a:pathLst>
              <a:path w="773426" h="817169">
                <a:moveTo>
                  <a:pt x="0" y="0"/>
                </a:moveTo>
                <a:lnTo>
                  <a:pt x="773426" y="0"/>
                </a:lnTo>
                <a:lnTo>
                  <a:pt x="773426" y="817169"/>
                </a:lnTo>
                <a:lnTo>
                  <a:pt x="0" y="817169"/>
                </a:lnTo>
                <a:lnTo>
                  <a:pt x="0" y="0"/>
                </a:lnTo>
                <a:close/>
              </a:path>
            </a:pathLst>
          </a:custGeom>
          <a:blipFill>
            <a:blip r:embed="rId15"/>
            <a:stretch>
              <a:fillRect/>
            </a:stretch>
          </a:blipFill>
        </p:spPr>
      </p:sp>
      <p:sp>
        <p:nvSpPr>
          <p:cNvPr id="29" name="Freeform 29"/>
          <p:cNvSpPr/>
          <p:nvPr/>
        </p:nvSpPr>
        <p:spPr>
          <a:xfrm>
            <a:off x="8289047" y="1315007"/>
            <a:ext cx="1100195" cy="623400"/>
          </a:xfrm>
          <a:custGeom>
            <a:avLst/>
            <a:gdLst/>
            <a:ahLst/>
            <a:cxnLst/>
            <a:rect l="l" t="t" r="r" b="b"/>
            <a:pathLst>
              <a:path w="1100195" h="623400">
                <a:moveTo>
                  <a:pt x="0" y="0"/>
                </a:moveTo>
                <a:lnTo>
                  <a:pt x="1100195" y="0"/>
                </a:lnTo>
                <a:lnTo>
                  <a:pt x="1100195" y="623400"/>
                </a:lnTo>
                <a:lnTo>
                  <a:pt x="0" y="623400"/>
                </a:lnTo>
                <a:lnTo>
                  <a:pt x="0" y="0"/>
                </a:lnTo>
                <a:close/>
              </a:path>
            </a:pathLst>
          </a:custGeom>
          <a:blipFill>
            <a:blip r:embed="rId16"/>
            <a:stretch>
              <a:fillRect/>
            </a:stretch>
          </a:blipFill>
        </p:spPr>
      </p:sp>
      <p:sp>
        <p:nvSpPr>
          <p:cNvPr id="30" name="Freeform 30"/>
          <p:cNvSpPr/>
          <p:nvPr/>
        </p:nvSpPr>
        <p:spPr>
          <a:xfrm>
            <a:off x="8898646" y="379714"/>
            <a:ext cx="752572" cy="752572"/>
          </a:xfrm>
          <a:custGeom>
            <a:avLst/>
            <a:gdLst/>
            <a:ahLst/>
            <a:cxnLst/>
            <a:rect l="l" t="t" r="r" b="b"/>
            <a:pathLst>
              <a:path w="752572" h="752572">
                <a:moveTo>
                  <a:pt x="0" y="0"/>
                </a:moveTo>
                <a:lnTo>
                  <a:pt x="752572" y="0"/>
                </a:lnTo>
                <a:lnTo>
                  <a:pt x="752572" y="752572"/>
                </a:lnTo>
                <a:lnTo>
                  <a:pt x="0" y="752572"/>
                </a:lnTo>
                <a:lnTo>
                  <a:pt x="0" y="0"/>
                </a:lnTo>
                <a:close/>
              </a:path>
            </a:pathLst>
          </a:custGeom>
          <a:blipFill>
            <a:blip r:embed="rId17"/>
            <a:stretch>
              <a:fillRect/>
            </a:stretch>
          </a:blipFill>
        </p:spPr>
      </p:sp>
      <p:sp>
        <p:nvSpPr>
          <p:cNvPr id="31" name="TextBox 31"/>
          <p:cNvSpPr txBox="1"/>
          <p:nvPr/>
        </p:nvSpPr>
        <p:spPr>
          <a:xfrm>
            <a:off x="2577113" y="2311689"/>
            <a:ext cx="5656812" cy="896226"/>
          </a:xfrm>
          <a:prstGeom prst="rect">
            <a:avLst/>
          </a:prstGeom>
        </p:spPr>
        <p:txBody>
          <a:bodyPr lIns="0" tIns="0" rIns="0" bIns="0" rtlCol="0" anchor="t">
            <a:spAutoFit/>
          </a:bodyPr>
          <a:lstStyle/>
          <a:p>
            <a:pPr algn="ctr">
              <a:lnSpc>
                <a:spcPts val="6680"/>
              </a:lnSpc>
            </a:pPr>
            <a:r>
              <a:rPr lang="en-US" sz="4770" b="1" spc="715">
                <a:solidFill>
                  <a:srgbClr val="0D1E4A"/>
                </a:solidFill>
                <a:latin typeface="Cardo Bold" panose="02020804080000020003"/>
                <a:ea typeface="Cardo Bold" panose="02020804080000020003"/>
                <a:cs typeface="Cardo Bold" panose="02020804080000020003"/>
                <a:sym typeface="Cardo Bold" panose="02020804080000020003"/>
              </a:rPr>
              <a:t>CERTIFICATE</a:t>
            </a:r>
            <a:endParaRPr lang="en-US" sz="4770" b="1" spc="715">
              <a:solidFill>
                <a:srgbClr val="0D1E4A"/>
              </a:solidFill>
              <a:latin typeface="Cardo Bold" panose="02020804080000020003"/>
              <a:ea typeface="Cardo Bold" panose="02020804080000020003"/>
              <a:cs typeface="Cardo Bold" panose="02020804080000020003"/>
              <a:sym typeface="Cardo Bold" panose="02020804080000020003"/>
            </a:endParaRPr>
          </a:p>
        </p:txBody>
      </p:sp>
      <p:sp>
        <p:nvSpPr>
          <p:cNvPr id="32" name="TextBox 32"/>
          <p:cNvSpPr txBox="1"/>
          <p:nvPr/>
        </p:nvSpPr>
        <p:spPr>
          <a:xfrm>
            <a:off x="1832400" y="4461562"/>
            <a:ext cx="7239781" cy="1841500"/>
          </a:xfrm>
          <a:prstGeom prst="rect">
            <a:avLst/>
          </a:prstGeom>
        </p:spPr>
        <p:txBody>
          <a:bodyPr lIns="0" tIns="0" rIns="0" bIns="0" rtlCol="0" anchor="t">
            <a:spAutoFit/>
          </a:bodyPr>
          <a:lstStyle/>
          <a:p>
            <a:pPr algn="ctr">
              <a:lnSpc>
                <a:spcPts val="1795"/>
              </a:lnSpc>
            </a:pPr>
            <a:r>
              <a:rPr lang="en-US" sz="1280">
                <a:solidFill>
                  <a:srgbClr val="0D1E4A"/>
                </a:solidFill>
                <a:latin typeface="Cardo" panose="02020600000000000000"/>
                <a:ea typeface="Cardo" panose="02020600000000000000"/>
                <a:cs typeface="Cardo" panose="02020600000000000000"/>
                <a:sym typeface="Cardo" panose="02020600000000000000"/>
              </a:rPr>
              <a:t>has successfully participated in the {{EVENT NAME}} organized by Trinity College of Engineering and Technology - </a:t>
            </a:r>
            <a:r>
              <a:rPr lang="en-US" altLang="en-US" sz="1280">
                <a:solidFill>
                  <a:srgbClr val="0D1E4A"/>
                </a:solidFill>
                <a:latin typeface="Cardo" panose="02020600000000000000"/>
                <a:ea typeface="Cardo" panose="02020600000000000000"/>
                <a:cs typeface="Cardo" panose="02020600000000000000"/>
                <a:sym typeface="Cardo" panose="02020600000000000000"/>
              </a:rPr>
              <a:t>Auto</a:t>
            </a:r>
            <a:r>
              <a:rPr lang="en-IN" altLang="en-US" sz="1280">
                <a:solidFill>
                  <a:srgbClr val="0D1E4A"/>
                </a:solidFill>
                <a:latin typeface="Cardo" panose="02020600000000000000"/>
                <a:ea typeface="Cardo" panose="02020600000000000000"/>
                <a:cs typeface="Cardo" panose="02020600000000000000"/>
                <a:sym typeface="Cardo" panose="02020600000000000000"/>
              </a:rPr>
              <a:t>nomous</a:t>
            </a:r>
            <a:r>
              <a:rPr lang="en-US" sz="1280">
                <a:solidFill>
                  <a:srgbClr val="0D1E4A"/>
                </a:solidFill>
                <a:latin typeface="Cardo" panose="02020600000000000000"/>
                <a:ea typeface="Cardo" panose="02020600000000000000"/>
                <a:cs typeface="Cardo" panose="02020600000000000000"/>
                <a:sym typeface="Cardo" panose="02020600000000000000"/>
              </a:rPr>
              <a:t>, Peddapalli,</a:t>
            </a:r>
            <a:r>
              <a:rPr lang="en-US" sz="1280">
                <a:solidFill>
                  <a:srgbClr val="0D1E4A"/>
                </a:solidFill>
                <a:latin typeface="Cardo" panose="02020600000000000000"/>
                <a:ea typeface="Cardo" panose="02020600000000000000"/>
                <a:cs typeface="Cardo" panose="02020600000000000000"/>
                <a:sym typeface="Cardo" panose="02020600000000000000"/>
              </a:rPr>
              <a:t> held on </a:t>
            </a:r>
            <a:r>
              <a:rPr lang="en-US" sz="1280">
                <a:solidFill>
                  <a:srgbClr val="0D1E4A"/>
                </a:solidFill>
                <a:latin typeface="Cardo" panose="02020600000000000000"/>
                <a:ea typeface="Cardo" panose="02020600000000000000"/>
                <a:cs typeface="Cardo" panose="02020600000000000000"/>
                <a:sym typeface="Cardo" panose="02020600000000000000"/>
              </a:rPr>
              <a:t>{{DATE}}.</a:t>
            </a:r>
            <a:endParaRPr lang="en-US" sz="1280">
              <a:solidFill>
                <a:srgbClr val="0D1E4A"/>
              </a:solidFill>
              <a:latin typeface="Cardo" panose="02020600000000000000"/>
              <a:ea typeface="Cardo" panose="02020600000000000000"/>
              <a:cs typeface="Cardo" panose="02020600000000000000"/>
              <a:sym typeface="Cardo" panose="02020600000000000000"/>
            </a:endParaRPr>
          </a:p>
          <a:p>
            <a:pPr algn="ctr">
              <a:lnSpc>
                <a:spcPts val="1795"/>
              </a:lnSpc>
            </a:pPr>
          </a:p>
          <a:p>
            <a:pPr algn="ctr">
              <a:lnSpc>
                <a:spcPts val="1795"/>
              </a:lnSpc>
            </a:pPr>
            <a:r>
              <a:rPr lang="en-US" sz="1280">
                <a:solidFill>
                  <a:srgbClr val="0D1E4A"/>
                </a:solidFill>
                <a:latin typeface="Cardo" panose="02020600000000000000"/>
                <a:ea typeface="Cardo" panose="02020600000000000000"/>
                <a:cs typeface="Cardo" panose="02020600000000000000"/>
                <a:sym typeface="Cardo" panose="02020600000000000000"/>
              </a:rPr>
              <a:t>Their enthusiastic participation, innovative spirit, and interest in research and development are sincerely appreciated. We congratulate them on their involvement and wish them continued success in their future academic and professional endeavors.</a:t>
            </a:r>
            <a:endParaRPr lang="en-US" sz="1280">
              <a:solidFill>
                <a:srgbClr val="0D1E4A"/>
              </a:solidFill>
              <a:latin typeface="Cardo" panose="02020600000000000000"/>
              <a:ea typeface="Cardo" panose="02020600000000000000"/>
              <a:cs typeface="Cardo" panose="02020600000000000000"/>
              <a:sym typeface="Cardo" panose="02020600000000000000"/>
            </a:endParaRPr>
          </a:p>
          <a:p>
            <a:pPr algn="ctr">
              <a:lnSpc>
                <a:spcPts val="1795"/>
              </a:lnSpc>
            </a:pPr>
          </a:p>
          <a:p>
            <a:pPr algn="ctr">
              <a:lnSpc>
                <a:spcPts val="1795"/>
              </a:lnSpc>
            </a:pPr>
          </a:p>
        </p:txBody>
      </p:sp>
      <p:grpSp>
        <p:nvGrpSpPr>
          <p:cNvPr id="33" name="Group 33"/>
          <p:cNvGrpSpPr/>
          <p:nvPr/>
        </p:nvGrpSpPr>
        <p:grpSpPr>
          <a:xfrm rot="0">
            <a:off x="4006444" y="5907181"/>
            <a:ext cx="2544337" cy="301019"/>
            <a:chOff x="0" y="0"/>
            <a:chExt cx="3392449" cy="401358"/>
          </a:xfrm>
        </p:grpSpPr>
        <p:sp>
          <p:nvSpPr>
            <p:cNvPr id="34" name="Freeform 34"/>
            <p:cNvSpPr/>
            <p:nvPr/>
          </p:nvSpPr>
          <p:spPr>
            <a:xfrm>
              <a:off x="0" y="0"/>
              <a:ext cx="3392424" cy="401320"/>
            </a:xfrm>
            <a:custGeom>
              <a:avLst/>
              <a:gdLst/>
              <a:ahLst/>
              <a:cxnLst/>
              <a:rect l="l" t="t" r="r" b="b"/>
              <a:pathLst>
                <a:path w="3392424" h="401320">
                  <a:moveTo>
                    <a:pt x="0" y="0"/>
                  </a:moveTo>
                  <a:lnTo>
                    <a:pt x="3392424" y="0"/>
                  </a:lnTo>
                  <a:lnTo>
                    <a:pt x="3392424" y="401320"/>
                  </a:lnTo>
                  <a:lnTo>
                    <a:pt x="0" y="401320"/>
                  </a:lnTo>
                  <a:lnTo>
                    <a:pt x="0" y="0"/>
                  </a:lnTo>
                  <a:close/>
                </a:path>
              </a:pathLst>
            </a:custGeom>
            <a:blipFill>
              <a:blip r:embed="rId18"/>
              <a:stretch>
                <a:fillRect b="-9"/>
              </a:stretch>
            </a:blipFill>
          </p:spPr>
        </p:sp>
      </p:grpSp>
      <p:sp>
        <p:nvSpPr>
          <p:cNvPr id="35" name="TextBox 35"/>
          <p:cNvSpPr txBox="1"/>
          <p:nvPr/>
        </p:nvSpPr>
        <p:spPr>
          <a:xfrm>
            <a:off x="3143860" y="6073782"/>
            <a:ext cx="4341524" cy="192681"/>
          </a:xfrm>
          <a:prstGeom prst="rect">
            <a:avLst/>
          </a:prstGeom>
        </p:spPr>
        <p:txBody>
          <a:bodyPr lIns="0" tIns="0" rIns="0" bIns="0" rtlCol="0" anchor="t">
            <a:spAutoFit/>
          </a:bodyPr>
          <a:lstStyle/>
          <a:p>
            <a:pPr algn="ctr">
              <a:lnSpc>
                <a:spcPts val="1490"/>
              </a:lnSpc>
            </a:pPr>
            <a:r>
              <a:rPr lang="en-US" sz="1065">
                <a:solidFill>
                  <a:srgbClr val="0D1E4A"/>
                </a:solidFill>
                <a:latin typeface="Cardo" panose="02020600000000000000"/>
                <a:ea typeface="Cardo" panose="02020600000000000000"/>
                <a:cs typeface="Cardo" panose="02020600000000000000"/>
                <a:sym typeface="Cardo" panose="02020600000000000000"/>
              </a:rPr>
              <a:t>We appreciate the innovative thinking, creativity and efforts demonstrated.</a:t>
            </a:r>
            <a:endParaRPr lang="en-US" sz="1065">
              <a:solidFill>
                <a:srgbClr val="0D1E4A"/>
              </a:solidFill>
              <a:latin typeface="Cardo" panose="02020600000000000000"/>
              <a:ea typeface="Cardo" panose="02020600000000000000"/>
              <a:cs typeface="Cardo" panose="02020600000000000000"/>
              <a:sym typeface="Cardo" panose="02020600000000000000"/>
            </a:endParaRPr>
          </a:p>
        </p:txBody>
      </p:sp>
      <p:sp>
        <p:nvSpPr>
          <p:cNvPr id="36" name="TextBox 36"/>
          <p:cNvSpPr txBox="1"/>
          <p:nvPr/>
        </p:nvSpPr>
        <p:spPr>
          <a:xfrm>
            <a:off x="3185084" y="3798573"/>
            <a:ext cx="4322274" cy="544935"/>
          </a:xfrm>
          <a:prstGeom prst="rect">
            <a:avLst/>
          </a:prstGeom>
        </p:spPr>
        <p:txBody>
          <a:bodyPr lIns="0" tIns="0" rIns="0" bIns="0" rtlCol="0" anchor="t">
            <a:spAutoFit/>
          </a:bodyPr>
          <a:lstStyle/>
          <a:p>
            <a:pPr algn="ctr">
              <a:lnSpc>
                <a:spcPts val="3655"/>
              </a:lnSpc>
            </a:pPr>
            <a:r>
              <a:rPr lang="en-US" sz="2405" b="1">
                <a:solidFill>
                  <a:srgbClr val="000000"/>
                </a:solidFill>
                <a:latin typeface="Cardo Bold" panose="02020804080000020003"/>
                <a:ea typeface="Cardo Bold" panose="02020804080000020003"/>
                <a:cs typeface="Cardo Bold" panose="02020804080000020003"/>
                <a:sym typeface="Cardo Bold" panose="02020804080000020003"/>
              </a:rPr>
              <a:t>{{PARTICIPANT NAME}} </a:t>
            </a:r>
            <a:endParaRPr lang="en-US" sz="2405" b="1">
              <a:solidFill>
                <a:srgbClr val="000000"/>
              </a:solidFill>
              <a:latin typeface="Cardo Bold" panose="02020804080000020003"/>
              <a:ea typeface="Cardo Bold" panose="02020804080000020003"/>
              <a:cs typeface="Cardo Bold" panose="02020804080000020003"/>
              <a:sym typeface="Cardo Bold" panose="02020804080000020003"/>
            </a:endParaRPr>
          </a:p>
        </p:txBody>
      </p:sp>
      <p:sp>
        <p:nvSpPr>
          <p:cNvPr id="37" name="TextBox 37"/>
          <p:cNvSpPr txBox="1"/>
          <p:nvPr/>
        </p:nvSpPr>
        <p:spPr>
          <a:xfrm>
            <a:off x="3507438" y="830351"/>
            <a:ext cx="3764080" cy="409165"/>
          </a:xfrm>
          <a:prstGeom prst="rect">
            <a:avLst/>
          </a:prstGeom>
        </p:spPr>
        <p:txBody>
          <a:bodyPr lIns="0" tIns="0" rIns="0" bIns="0" rtlCol="0" anchor="t">
            <a:spAutoFit/>
          </a:bodyPr>
          <a:lstStyle/>
          <a:p>
            <a:pPr algn="ctr">
              <a:lnSpc>
                <a:spcPts val="2985"/>
              </a:lnSpc>
            </a:pPr>
            <a:r>
              <a:rPr lang="en-US" sz="2135" b="1">
                <a:solidFill>
                  <a:srgbClr val="0D1E4A"/>
                </a:solidFill>
                <a:latin typeface="Bebas Neue Bold" panose="020B0606020202050201"/>
                <a:ea typeface="Bebas Neue Bold" panose="020B0606020202050201"/>
                <a:cs typeface="Bebas Neue Bold" panose="020B0606020202050201"/>
                <a:sym typeface="Bebas Neue Bold" panose="020B0606020202050201"/>
              </a:rPr>
              <a:t>COLLEGE OF ENGINEERING AND TECHNOLOGY</a:t>
            </a:r>
            <a:endParaRPr lang="en-US" sz="2135" b="1">
              <a:solidFill>
                <a:srgbClr val="0D1E4A"/>
              </a:solidFill>
              <a:latin typeface="Bebas Neue Bold" panose="020B0606020202050201"/>
              <a:ea typeface="Bebas Neue Bold" panose="020B0606020202050201"/>
              <a:cs typeface="Bebas Neue Bold" panose="020B0606020202050201"/>
              <a:sym typeface="Bebas Neue Bold" panose="020B0606020202050201"/>
            </a:endParaRPr>
          </a:p>
        </p:txBody>
      </p:sp>
      <p:sp>
        <p:nvSpPr>
          <p:cNvPr id="38" name="TextBox 38"/>
          <p:cNvSpPr txBox="1"/>
          <p:nvPr/>
        </p:nvSpPr>
        <p:spPr>
          <a:xfrm>
            <a:off x="4266667" y="1190349"/>
            <a:ext cx="2202837" cy="230267"/>
          </a:xfrm>
          <a:prstGeom prst="rect">
            <a:avLst/>
          </a:prstGeom>
        </p:spPr>
        <p:txBody>
          <a:bodyPr lIns="0" tIns="0" rIns="0" bIns="0" rtlCol="0" anchor="t">
            <a:spAutoFit/>
          </a:bodyPr>
          <a:lstStyle/>
          <a:p>
            <a:pPr algn="ctr">
              <a:lnSpc>
                <a:spcPts val="1790"/>
              </a:lnSpc>
            </a:pPr>
            <a:r>
              <a:rPr lang="en-US" sz="1280" b="1">
                <a:solidFill>
                  <a:srgbClr val="B20000"/>
                </a:solidFill>
                <a:latin typeface="Cardo Bold" panose="02020804080000020003"/>
                <a:ea typeface="Cardo Bold" panose="02020804080000020003"/>
                <a:cs typeface="Cardo Bold" panose="02020804080000020003"/>
                <a:sym typeface="Cardo Bold" panose="02020804080000020003"/>
              </a:rPr>
              <a:t>(An Autonomous Institution)</a:t>
            </a:r>
            <a:endParaRPr lang="en-US" sz="1280" b="1">
              <a:solidFill>
                <a:srgbClr val="B20000"/>
              </a:solidFill>
              <a:latin typeface="Cardo Bold" panose="02020804080000020003"/>
              <a:ea typeface="Cardo Bold" panose="02020804080000020003"/>
              <a:cs typeface="Cardo Bold" panose="02020804080000020003"/>
              <a:sym typeface="Cardo Bold" panose="02020804080000020003"/>
            </a:endParaRPr>
          </a:p>
        </p:txBody>
      </p:sp>
      <p:sp>
        <p:nvSpPr>
          <p:cNvPr id="39" name="TextBox 39"/>
          <p:cNvSpPr txBox="1"/>
          <p:nvPr/>
        </p:nvSpPr>
        <p:spPr>
          <a:xfrm>
            <a:off x="4801333" y="1510497"/>
            <a:ext cx="1026566" cy="196139"/>
          </a:xfrm>
          <a:prstGeom prst="rect">
            <a:avLst/>
          </a:prstGeom>
        </p:spPr>
        <p:txBody>
          <a:bodyPr lIns="0" tIns="0" rIns="0" bIns="0" rtlCol="0" anchor="t">
            <a:spAutoFit/>
          </a:bodyPr>
          <a:lstStyle/>
          <a:p>
            <a:pPr algn="ctr">
              <a:lnSpc>
                <a:spcPts val="1565"/>
              </a:lnSpc>
            </a:pPr>
            <a:r>
              <a:rPr lang="en-US" sz="1115" b="1">
                <a:solidFill>
                  <a:srgbClr val="FFFFFF"/>
                </a:solidFill>
                <a:latin typeface="Cardo Bold" panose="02020804080000020003"/>
                <a:ea typeface="Cardo Bold" panose="02020804080000020003"/>
                <a:cs typeface="Cardo Bold" panose="02020804080000020003"/>
                <a:sym typeface="Cardo Bold" panose="02020804080000020003"/>
              </a:rPr>
              <a:t>PEDDAPALLI</a:t>
            </a:r>
            <a:endParaRPr lang="en-US" sz="1115" b="1">
              <a:solidFill>
                <a:srgbClr val="FFFFFF"/>
              </a:solidFill>
              <a:latin typeface="Cardo Bold" panose="02020804080000020003"/>
              <a:ea typeface="Cardo Bold" panose="02020804080000020003"/>
              <a:cs typeface="Cardo Bold" panose="02020804080000020003"/>
              <a:sym typeface="Cardo Bold" panose="02020804080000020003"/>
            </a:endParaRPr>
          </a:p>
        </p:txBody>
      </p:sp>
      <p:sp>
        <p:nvSpPr>
          <p:cNvPr id="40" name="TextBox 40"/>
          <p:cNvSpPr txBox="1"/>
          <p:nvPr/>
        </p:nvSpPr>
        <p:spPr>
          <a:xfrm>
            <a:off x="3186636" y="1741561"/>
            <a:ext cx="4320130" cy="437579"/>
          </a:xfrm>
          <a:prstGeom prst="rect">
            <a:avLst/>
          </a:prstGeom>
        </p:spPr>
        <p:txBody>
          <a:bodyPr lIns="0" tIns="0" rIns="0" bIns="0" rtlCol="0" anchor="t">
            <a:spAutoFit/>
          </a:bodyPr>
          <a:lstStyle/>
          <a:p>
            <a:pPr algn="ctr">
              <a:lnSpc>
                <a:spcPts val="1595"/>
              </a:lnSpc>
            </a:pPr>
            <a:r>
              <a:rPr lang="en-US" sz="1065" b="1">
                <a:solidFill>
                  <a:srgbClr val="0D1E4A"/>
                </a:solidFill>
                <a:latin typeface="Cardo Bold" panose="02020804080000020003"/>
                <a:ea typeface="Cardo Bold" panose="02020804080000020003"/>
                <a:cs typeface="Cardo Bold" panose="02020804080000020003"/>
                <a:sym typeface="Cardo Bold" panose="02020804080000020003"/>
              </a:rPr>
              <a:t>Approved by AICTE, Recognized by NAAC, Recognized under 2 (f) of UGC, Affiliate to JNTU, Hyderabad &amp; Affiliated to SBTET</a:t>
            </a:r>
            <a:endParaRPr lang="en-US" sz="1065" b="1">
              <a:solidFill>
                <a:srgbClr val="0D1E4A"/>
              </a:solidFill>
              <a:latin typeface="Cardo Bold" panose="02020804080000020003"/>
              <a:ea typeface="Cardo Bold" panose="02020804080000020003"/>
              <a:cs typeface="Cardo Bold" panose="02020804080000020003"/>
              <a:sym typeface="Cardo Bold" panose="02020804080000020003"/>
            </a:endParaRPr>
          </a:p>
        </p:txBody>
      </p:sp>
      <p:sp>
        <p:nvSpPr>
          <p:cNvPr id="41" name="TextBox 41"/>
          <p:cNvSpPr txBox="1"/>
          <p:nvPr/>
        </p:nvSpPr>
        <p:spPr>
          <a:xfrm>
            <a:off x="5186296" y="2224840"/>
            <a:ext cx="545363" cy="193358"/>
          </a:xfrm>
          <a:prstGeom prst="rect">
            <a:avLst/>
          </a:prstGeom>
        </p:spPr>
        <p:txBody>
          <a:bodyPr lIns="0" tIns="0" rIns="0" bIns="0" rtlCol="0" anchor="t">
            <a:spAutoFit/>
          </a:bodyPr>
          <a:lstStyle/>
          <a:p>
            <a:pPr algn="ctr">
              <a:lnSpc>
                <a:spcPts val="1450"/>
              </a:lnSpc>
            </a:pPr>
            <a:r>
              <a:rPr lang="en-US" sz="1040" b="1">
                <a:solidFill>
                  <a:srgbClr val="0D1E4A"/>
                </a:solidFill>
                <a:latin typeface="Cardo Bold" panose="02020804080000020003"/>
                <a:ea typeface="Cardo Bold" panose="02020804080000020003"/>
                <a:cs typeface="Cardo Bold" panose="02020804080000020003"/>
                <a:sym typeface="Cardo Bold" panose="02020804080000020003"/>
              </a:rPr>
              <a:t>B.TECH</a:t>
            </a:r>
            <a:endParaRPr lang="en-US" sz="1040" b="1">
              <a:solidFill>
                <a:srgbClr val="0D1E4A"/>
              </a:solidFill>
              <a:latin typeface="Cardo Bold" panose="02020804080000020003"/>
              <a:ea typeface="Cardo Bold" panose="02020804080000020003"/>
              <a:cs typeface="Cardo Bold" panose="02020804080000020003"/>
              <a:sym typeface="Cardo Bold" panose="02020804080000020003"/>
            </a:endParaRPr>
          </a:p>
        </p:txBody>
      </p:sp>
      <p:sp>
        <p:nvSpPr>
          <p:cNvPr id="42" name="TextBox 42"/>
          <p:cNvSpPr txBox="1"/>
          <p:nvPr/>
        </p:nvSpPr>
        <p:spPr>
          <a:xfrm>
            <a:off x="6020381" y="2220582"/>
            <a:ext cx="310105" cy="194710"/>
          </a:xfrm>
          <a:prstGeom prst="rect">
            <a:avLst/>
          </a:prstGeom>
        </p:spPr>
        <p:txBody>
          <a:bodyPr lIns="0" tIns="0" rIns="0" bIns="0" rtlCol="0" anchor="t">
            <a:spAutoFit/>
          </a:bodyPr>
          <a:lstStyle/>
          <a:p>
            <a:pPr algn="ctr">
              <a:lnSpc>
                <a:spcPts val="1375"/>
              </a:lnSpc>
            </a:pPr>
            <a:r>
              <a:rPr lang="en-US" sz="985" b="1">
                <a:solidFill>
                  <a:srgbClr val="B20000"/>
                </a:solidFill>
                <a:latin typeface="Cardo Bold" panose="02020804080000020003"/>
                <a:ea typeface="Cardo Bold" panose="02020804080000020003"/>
                <a:cs typeface="Cardo Bold" panose="02020804080000020003"/>
                <a:sym typeface="Cardo Bold" panose="02020804080000020003"/>
              </a:rPr>
              <a:t>MBA</a:t>
            </a:r>
            <a:endParaRPr lang="en-US" sz="985" b="1">
              <a:solidFill>
                <a:srgbClr val="B20000"/>
              </a:solidFill>
              <a:latin typeface="Cardo Bold" panose="02020804080000020003"/>
              <a:ea typeface="Cardo Bold" panose="02020804080000020003"/>
              <a:cs typeface="Cardo Bold" panose="02020804080000020003"/>
              <a:sym typeface="Cardo Bold" panose="02020804080000020003"/>
            </a:endParaRPr>
          </a:p>
        </p:txBody>
      </p:sp>
      <p:sp>
        <p:nvSpPr>
          <p:cNvPr id="43" name="TextBox 43"/>
          <p:cNvSpPr txBox="1"/>
          <p:nvPr/>
        </p:nvSpPr>
        <p:spPr>
          <a:xfrm>
            <a:off x="4266667" y="233458"/>
            <a:ext cx="2523639" cy="666017"/>
          </a:xfrm>
          <a:prstGeom prst="rect">
            <a:avLst/>
          </a:prstGeom>
        </p:spPr>
        <p:txBody>
          <a:bodyPr lIns="0" tIns="0" rIns="0" bIns="0" rtlCol="0" anchor="t">
            <a:spAutoFit/>
          </a:bodyPr>
          <a:lstStyle/>
          <a:p>
            <a:pPr algn="ctr">
              <a:lnSpc>
                <a:spcPts val="4885"/>
              </a:lnSpc>
            </a:pPr>
            <a:r>
              <a:rPr lang="en-US" sz="3490" b="1" spc="523">
                <a:solidFill>
                  <a:srgbClr val="860000"/>
                </a:solidFill>
                <a:latin typeface="Cardo Bold" panose="02020804080000020003"/>
                <a:ea typeface="Cardo Bold" panose="02020804080000020003"/>
                <a:cs typeface="Cardo Bold" panose="02020804080000020003"/>
                <a:sym typeface="Cardo Bold" panose="02020804080000020003"/>
              </a:rPr>
              <a:t>TRINITY</a:t>
            </a:r>
            <a:endParaRPr lang="en-US" sz="3490" b="1" spc="523">
              <a:solidFill>
                <a:srgbClr val="860000"/>
              </a:solidFill>
              <a:latin typeface="Cardo Bold" panose="02020804080000020003"/>
              <a:ea typeface="Cardo Bold" panose="02020804080000020003"/>
              <a:cs typeface="Cardo Bold" panose="02020804080000020003"/>
              <a:sym typeface="Cardo Bold" panose="02020804080000020003"/>
            </a:endParaRPr>
          </a:p>
        </p:txBody>
      </p:sp>
      <p:sp>
        <p:nvSpPr>
          <p:cNvPr id="44" name="TextBox 44"/>
          <p:cNvSpPr txBox="1"/>
          <p:nvPr/>
        </p:nvSpPr>
        <p:spPr>
          <a:xfrm>
            <a:off x="4341524" y="3504742"/>
            <a:ext cx="1882035" cy="256380"/>
          </a:xfrm>
          <a:prstGeom prst="rect">
            <a:avLst/>
          </a:prstGeom>
        </p:spPr>
        <p:txBody>
          <a:bodyPr lIns="0" tIns="0" rIns="0" bIns="0" rtlCol="0" anchor="t">
            <a:spAutoFit/>
          </a:bodyPr>
          <a:lstStyle/>
          <a:p>
            <a:pPr algn="ctr">
              <a:lnSpc>
                <a:spcPts val="2125"/>
              </a:lnSpc>
            </a:pPr>
            <a:r>
              <a:rPr lang="en-US" sz="1515">
                <a:solidFill>
                  <a:srgbClr val="0D1E4A"/>
                </a:solidFill>
                <a:latin typeface="Cardo" panose="02020600000000000000"/>
                <a:ea typeface="Cardo" panose="02020600000000000000"/>
                <a:cs typeface="Cardo" panose="02020600000000000000"/>
                <a:sym typeface="Cardo" panose="02020600000000000000"/>
              </a:rPr>
              <a:t>This is to certify that</a:t>
            </a:r>
            <a:endParaRPr lang="en-US" sz="1515">
              <a:solidFill>
                <a:srgbClr val="0D1E4A"/>
              </a:solidFill>
              <a:latin typeface="Cardo" panose="02020600000000000000"/>
              <a:ea typeface="Cardo" panose="02020600000000000000"/>
              <a:cs typeface="Cardo" panose="02020600000000000000"/>
              <a:sym typeface="Cardo" panose="02020600000000000000"/>
            </a:endParaRPr>
          </a:p>
        </p:txBody>
      </p:sp>
      <p:sp>
        <p:nvSpPr>
          <p:cNvPr id="45" name="TextBox 45"/>
          <p:cNvSpPr txBox="1"/>
          <p:nvPr/>
        </p:nvSpPr>
        <p:spPr>
          <a:xfrm>
            <a:off x="4052802" y="6264368"/>
            <a:ext cx="2470175" cy="173888"/>
          </a:xfrm>
          <a:prstGeom prst="rect">
            <a:avLst/>
          </a:prstGeom>
        </p:spPr>
        <p:txBody>
          <a:bodyPr lIns="0" tIns="0" rIns="0" bIns="0" rtlCol="0" anchor="t">
            <a:spAutoFit/>
          </a:bodyPr>
          <a:lstStyle/>
          <a:p>
            <a:pPr algn="ctr">
              <a:lnSpc>
                <a:spcPts val="1340"/>
              </a:lnSpc>
            </a:pPr>
            <a:r>
              <a:rPr lang="en-US" sz="960" b="1">
                <a:solidFill>
                  <a:srgbClr val="B20000"/>
                </a:solidFill>
                <a:latin typeface="Cardo Bold" panose="02020804080000020003"/>
                <a:ea typeface="Cardo Bold" panose="02020804080000020003"/>
                <a:cs typeface="Cardo Bold" panose="02020804080000020003"/>
                <a:sym typeface="Cardo Bold" panose="02020804080000020003"/>
              </a:rPr>
              <a:t>IDEAS TODAY, IMPACT TOMORROW.</a:t>
            </a:r>
            <a:endParaRPr lang="en-US" sz="960" b="1">
              <a:solidFill>
                <a:srgbClr val="B20000"/>
              </a:solidFill>
              <a:latin typeface="Cardo Bold" panose="02020804080000020003"/>
              <a:ea typeface="Cardo Bold" panose="02020804080000020003"/>
              <a:cs typeface="Cardo Bold" panose="02020804080000020003"/>
              <a:sym typeface="Cardo Bold" panose="02020804080000020003"/>
            </a:endParaRPr>
          </a:p>
        </p:txBody>
      </p:sp>
      <p:sp>
        <p:nvSpPr>
          <p:cNvPr id="46" name="TextBox 46"/>
          <p:cNvSpPr txBox="1"/>
          <p:nvPr/>
        </p:nvSpPr>
        <p:spPr>
          <a:xfrm>
            <a:off x="3041266" y="6916845"/>
            <a:ext cx="1366056" cy="123190"/>
          </a:xfrm>
          <a:prstGeom prst="rect">
            <a:avLst/>
          </a:prstGeom>
        </p:spPr>
        <p:txBody>
          <a:bodyPr lIns="0" tIns="0" rIns="0" bIns="0" rtlCol="0" anchor="t">
            <a:spAutoFit/>
          </a:bodyPr>
          <a:lstStyle/>
          <a:p>
            <a:pPr algn="ctr">
              <a:lnSpc>
                <a:spcPts val="965"/>
              </a:lnSpc>
            </a:pPr>
            <a:r>
              <a:rPr lang="en-US" sz="690" b="1">
                <a:solidFill>
                  <a:srgbClr val="0D1E4A"/>
                </a:solidFill>
                <a:latin typeface="Cardo Bold" panose="02020804080000020003"/>
                <a:ea typeface="Cardo Bold" panose="02020804080000020003"/>
                <a:cs typeface="Cardo Bold" panose="02020804080000020003"/>
                <a:sym typeface="Cardo Bold" panose="02020804080000020003"/>
              </a:rPr>
              <a:t>R&amp;D CHEF COORDINATOR</a:t>
            </a:r>
            <a:endParaRPr lang="en-US" sz="690" b="1">
              <a:solidFill>
                <a:srgbClr val="0D1E4A"/>
              </a:solidFill>
              <a:latin typeface="Cardo Bold" panose="02020804080000020003"/>
              <a:ea typeface="Cardo Bold" panose="02020804080000020003"/>
              <a:cs typeface="Cardo Bold" panose="02020804080000020003"/>
              <a:sym typeface="Cardo Bold" panose="02020804080000020003"/>
            </a:endParaRPr>
          </a:p>
        </p:txBody>
      </p:sp>
      <p:sp>
        <p:nvSpPr>
          <p:cNvPr id="47" name="TextBox 47"/>
          <p:cNvSpPr txBox="1"/>
          <p:nvPr/>
        </p:nvSpPr>
        <p:spPr>
          <a:xfrm>
            <a:off x="6993484" y="6906749"/>
            <a:ext cx="556060" cy="143475"/>
          </a:xfrm>
          <a:prstGeom prst="rect">
            <a:avLst/>
          </a:prstGeom>
        </p:spPr>
        <p:txBody>
          <a:bodyPr lIns="0" tIns="0" rIns="0" bIns="0" rtlCol="0" anchor="t">
            <a:spAutoFit/>
          </a:bodyPr>
          <a:lstStyle/>
          <a:p>
            <a:pPr algn="ctr">
              <a:lnSpc>
                <a:spcPts val="1040"/>
              </a:lnSpc>
            </a:pPr>
            <a:r>
              <a:rPr lang="en-US" sz="745" b="1">
                <a:solidFill>
                  <a:srgbClr val="0D1E4A"/>
                </a:solidFill>
                <a:latin typeface="Cardo Bold" panose="02020804080000020003"/>
                <a:ea typeface="Cardo Bold" panose="02020804080000020003"/>
                <a:cs typeface="Cardo Bold" panose="02020804080000020003"/>
                <a:sym typeface="Cardo Bold" panose="02020804080000020003"/>
              </a:rPr>
              <a:t>PRINCIPAL</a:t>
            </a:r>
            <a:endParaRPr lang="en-US" sz="745" b="1">
              <a:solidFill>
                <a:srgbClr val="0D1E4A"/>
              </a:solidFill>
              <a:latin typeface="Cardo Bold" panose="02020804080000020003"/>
              <a:ea typeface="Cardo Bold" panose="02020804080000020003"/>
              <a:cs typeface="Cardo Bold" panose="02020804080000020003"/>
              <a:sym typeface="Cardo Bold" panose="02020804080000020003"/>
            </a:endParaRPr>
          </a:p>
        </p:txBody>
      </p:sp>
      <p:sp>
        <p:nvSpPr>
          <p:cNvPr id="48" name="TextBox 48"/>
          <p:cNvSpPr txBox="1"/>
          <p:nvPr/>
        </p:nvSpPr>
        <p:spPr>
          <a:xfrm>
            <a:off x="4539310" y="7240114"/>
            <a:ext cx="2035254" cy="133350"/>
          </a:xfrm>
          <a:prstGeom prst="rect">
            <a:avLst/>
          </a:prstGeom>
        </p:spPr>
        <p:txBody>
          <a:bodyPr lIns="0" tIns="0" rIns="0" bIns="0" rtlCol="0" anchor="t">
            <a:spAutoFit/>
          </a:bodyPr>
          <a:lstStyle/>
          <a:p>
            <a:pPr algn="ctr">
              <a:lnSpc>
                <a:spcPts val="1085"/>
              </a:lnSpc>
            </a:pPr>
            <a:r>
              <a:rPr lang="en-US" sz="900" b="1">
                <a:solidFill>
                  <a:srgbClr val="C00000"/>
                </a:solidFill>
                <a:latin typeface="Cardo Bold" panose="02020804080000020003"/>
                <a:ea typeface="Cardo Bold" panose="02020804080000020003"/>
                <a:cs typeface="Cardo Bold" panose="02020804080000020003"/>
                <a:sym typeface="Cardo Bold" panose="02020804080000020003"/>
              </a:rPr>
              <a:t>Certificate ID : TCEK/RD/2026/H0001</a:t>
            </a:r>
            <a:endParaRPr lang="en-US" sz="900" b="1">
              <a:solidFill>
                <a:srgbClr val="C00000"/>
              </a:solidFill>
              <a:latin typeface="Cardo Bold" panose="02020804080000020003"/>
              <a:ea typeface="Cardo Bold" panose="02020804080000020003"/>
              <a:cs typeface="Cardo Bold" panose="02020804080000020003"/>
              <a:sym typeface="Cardo Bold" panose="02020804080000020003"/>
            </a:endParaRPr>
          </a:p>
        </p:txBody>
      </p:sp>
      <p:grpSp>
        <p:nvGrpSpPr>
          <p:cNvPr id="49" name="Group 49"/>
          <p:cNvGrpSpPr/>
          <p:nvPr/>
        </p:nvGrpSpPr>
        <p:grpSpPr>
          <a:xfrm rot="0">
            <a:off x="4505869" y="3087580"/>
            <a:ext cx="1497873" cy="236782"/>
            <a:chOff x="0" y="0"/>
            <a:chExt cx="2538971" cy="401358"/>
          </a:xfrm>
        </p:grpSpPr>
        <p:sp>
          <p:nvSpPr>
            <p:cNvPr id="50" name="Freeform 50"/>
            <p:cNvSpPr/>
            <p:nvPr/>
          </p:nvSpPr>
          <p:spPr>
            <a:xfrm>
              <a:off x="0" y="0"/>
              <a:ext cx="2539010" cy="401320"/>
            </a:xfrm>
            <a:custGeom>
              <a:avLst/>
              <a:gdLst/>
              <a:ahLst/>
              <a:cxnLst/>
              <a:rect l="l" t="t" r="r" b="b"/>
              <a:pathLst>
                <a:path w="2539010" h="401320">
                  <a:moveTo>
                    <a:pt x="0" y="0"/>
                  </a:moveTo>
                  <a:lnTo>
                    <a:pt x="2539010" y="0"/>
                  </a:lnTo>
                  <a:lnTo>
                    <a:pt x="2539010" y="401320"/>
                  </a:lnTo>
                  <a:lnTo>
                    <a:pt x="0" y="401320"/>
                  </a:lnTo>
                  <a:lnTo>
                    <a:pt x="0" y="0"/>
                  </a:lnTo>
                  <a:close/>
                </a:path>
              </a:pathLst>
            </a:custGeom>
            <a:blipFill>
              <a:blip r:embed="rId3"/>
              <a:stretch>
                <a:fillRect l="-1" t="-4670" b="-4680"/>
              </a:stretch>
            </a:blipFill>
          </p:spPr>
        </p:sp>
      </p:grpSp>
      <p:sp>
        <p:nvSpPr>
          <p:cNvPr id="51" name="TextBox 51"/>
          <p:cNvSpPr txBox="1"/>
          <p:nvPr/>
        </p:nvSpPr>
        <p:spPr>
          <a:xfrm>
            <a:off x="4726682" y="3098290"/>
            <a:ext cx="1122415" cy="601980"/>
          </a:xfrm>
          <a:prstGeom prst="rect">
            <a:avLst/>
          </a:prstGeom>
        </p:spPr>
        <p:txBody>
          <a:bodyPr lIns="0" tIns="0" rIns="0" bIns="0" rtlCol="0" anchor="t">
            <a:spAutoFit/>
          </a:bodyPr>
          <a:lstStyle/>
          <a:p>
            <a:pPr algn="ctr">
              <a:lnSpc>
                <a:spcPts val="1565"/>
              </a:lnSpc>
            </a:pPr>
            <a:r>
              <a:rPr lang="en-US" sz="1115" b="1">
                <a:solidFill>
                  <a:srgbClr val="FFFFFF"/>
                </a:solidFill>
                <a:latin typeface="Cardo Bold" panose="02020804080000020003"/>
                <a:ea typeface="Cardo Bold" panose="02020804080000020003"/>
                <a:cs typeface="Cardo Bold" panose="02020804080000020003"/>
                <a:sym typeface="Cardo Bold" panose="02020804080000020003"/>
              </a:rPr>
              <a:t>for </a:t>
            </a:r>
            <a:r>
              <a:rPr lang="en-US" altLang="en-US" sz="1115" b="1">
                <a:solidFill>
                  <a:srgbClr val="FFFFFF"/>
                </a:solidFill>
                <a:latin typeface="Cardo Bold" panose="02020804080000020003"/>
                <a:ea typeface="Cardo Bold" panose="02020804080000020003"/>
                <a:cs typeface="Cardo Bold" panose="02020804080000020003"/>
                <a:sym typeface="Cardo Bold" panose="02020804080000020003"/>
              </a:rPr>
              <a:t>{{CERTIFICATE TYPE}}</a:t>
            </a:r>
            <a:r>
              <a:rPr lang="en-US" sz="1115" b="1">
                <a:solidFill>
                  <a:srgbClr val="FFFFFF"/>
                </a:solidFill>
                <a:latin typeface="Cardo Bold" panose="02020804080000020003"/>
                <a:ea typeface="Cardo Bold" panose="02020804080000020003"/>
                <a:cs typeface="Cardo Bold" panose="02020804080000020003"/>
                <a:sym typeface="Cardo Bold" panose="02020804080000020003"/>
              </a:rPr>
              <a:t> </a:t>
            </a:r>
            <a:endParaRPr lang="en-US" sz="1115" b="1">
              <a:solidFill>
                <a:srgbClr val="FFFFFF"/>
              </a:solidFill>
              <a:latin typeface="Cardo Bold" panose="02020804080000020003"/>
              <a:ea typeface="Cardo Bold" panose="02020804080000020003"/>
              <a:cs typeface="Cardo Bold" panose="02020804080000020003"/>
              <a:sym typeface="Cardo Bold" panose="02020804080000020003"/>
            </a:endParaRPr>
          </a:p>
        </p:txBody>
      </p:sp>
      <p:grpSp>
        <p:nvGrpSpPr>
          <p:cNvPr id="52" name="Group 52"/>
          <p:cNvGrpSpPr/>
          <p:nvPr/>
        </p:nvGrpSpPr>
        <p:grpSpPr>
          <a:xfrm rot="0">
            <a:off x="3666284" y="3055462"/>
            <a:ext cx="969300" cy="301019"/>
            <a:chOff x="0" y="0"/>
            <a:chExt cx="1292401" cy="401358"/>
          </a:xfrm>
        </p:grpSpPr>
        <p:sp>
          <p:nvSpPr>
            <p:cNvPr id="53" name="Freeform 53"/>
            <p:cNvSpPr/>
            <p:nvPr/>
          </p:nvSpPr>
          <p:spPr>
            <a:xfrm>
              <a:off x="0" y="0"/>
              <a:ext cx="1292348" cy="401320"/>
            </a:xfrm>
            <a:custGeom>
              <a:avLst/>
              <a:gdLst/>
              <a:ahLst/>
              <a:cxnLst/>
              <a:rect l="l" t="t" r="r" b="b"/>
              <a:pathLst>
                <a:path w="1292348" h="401320">
                  <a:moveTo>
                    <a:pt x="0" y="0"/>
                  </a:moveTo>
                  <a:lnTo>
                    <a:pt x="1292348" y="0"/>
                  </a:lnTo>
                  <a:lnTo>
                    <a:pt x="1292348" y="401320"/>
                  </a:lnTo>
                  <a:lnTo>
                    <a:pt x="0" y="401320"/>
                  </a:lnTo>
                  <a:lnTo>
                    <a:pt x="0" y="0"/>
                  </a:lnTo>
                  <a:close/>
                </a:path>
              </a:pathLst>
            </a:custGeom>
            <a:blipFill>
              <a:blip r:embed="rId2"/>
              <a:stretch>
                <a:fillRect t="-1228" r="-4" b="-1237"/>
              </a:stretch>
            </a:blipFill>
          </p:spPr>
        </p:sp>
      </p:grpSp>
      <p:grpSp>
        <p:nvGrpSpPr>
          <p:cNvPr id="54" name="Group 54"/>
          <p:cNvGrpSpPr/>
          <p:nvPr/>
        </p:nvGrpSpPr>
        <p:grpSpPr>
          <a:xfrm rot="0">
            <a:off x="5984854" y="3055462"/>
            <a:ext cx="969300" cy="301019"/>
            <a:chOff x="0" y="0"/>
            <a:chExt cx="1292401" cy="401358"/>
          </a:xfrm>
        </p:grpSpPr>
        <p:sp>
          <p:nvSpPr>
            <p:cNvPr id="55" name="Freeform 55"/>
            <p:cNvSpPr/>
            <p:nvPr/>
          </p:nvSpPr>
          <p:spPr>
            <a:xfrm>
              <a:off x="0" y="0"/>
              <a:ext cx="1292348" cy="401320"/>
            </a:xfrm>
            <a:custGeom>
              <a:avLst/>
              <a:gdLst/>
              <a:ahLst/>
              <a:cxnLst/>
              <a:rect l="l" t="t" r="r" b="b"/>
              <a:pathLst>
                <a:path w="1292348" h="401320">
                  <a:moveTo>
                    <a:pt x="0" y="0"/>
                  </a:moveTo>
                  <a:lnTo>
                    <a:pt x="1292348" y="0"/>
                  </a:lnTo>
                  <a:lnTo>
                    <a:pt x="1292348" y="401320"/>
                  </a:lnTo>
                  <a:lnTo>
                    <a:pt x="0" y="401320"/>
                  </a:lnTo>
                  <a:lnTo>
                    <a:pt x="0" y="0"/>
                  </a:lnTo>
                  <a:close/>
                </a:path>
              </a:pathLst>
            </a:custGeom>
            <a:blipFill>
              <a:blip r:embed="rId4"/>
              <a:stretch>
                <a:fillRect t="-1228" r="-4" b="-1237"/>
              </a:stretch>
            </a:blipFill>
          </p:spPr>
        </p:sp>
      </p:gr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866</Words>
  <Application>WPS Presentation</Application>
  <PresentationFormat>On-screen Show (4:3)</PresentationFormat>
  <Paragraphs>40</Paragraphs>
  <Slides>1</Slides>
  <Notes>0</Notes>
  <HiddenSlides>0</HiddenSlides>
  <MMClips>0</MMClips>
  <ScaleCrop>false</ScaleCrop>
  <HeadingPairs>
    <vt:vector size="6" baseType="variant">
      <vt:variant>
        <vt:lpstr>已用的字体</vt:lpstr>
      </vt:variant>
      <vt:variant>
        <vt:i4>9</vt:i4>
      </vt:variant>
      <vt:variant>
        <vt:lpstr>主题</vt:lpstr>
      </vt:variant>
      <vt:variant>
        <vt:i4>1</vt:i4>
      </vt:variant>
      <vt:variant>
        <vt:lpstr>幻灯片标题</vt:lpstr>
      </vt:variant>
      <vt:variant>
        <vt:i4>1</vt:i4>
      </vt:variant>
    </vt:vector>
  </HeadingPairs>
  <TitlesOfParts>
    <vt:vector size="11" baseType="lpstr">
      <vt:lpstr>Arial</vt:lpstr>
      <vt:lpstr>SimSun</vt:lpstr>
      <vt:lpstr>Wingdings</vt:lpstr>
      <vt:lpstr>Cardo Bold</vt:lpstr>
      <vt:lpstr>Cardo</vt:lpstr>
      <vt:lpstr>Bebas Neue Bold</vt:lpstr>
      <vt:lpstr>Calibri</vt:lpstr>
      <vt:lpstr>Microsoft YaHei</vt:lpstr>
      <vt:lpstr>Arial Unicode MS</vt:lpstr>
      <vt:lpstr>Office Theme</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CERTIFICATE_TEMPLATE - hackathon.pptx</dc:title>
  <dc:creator/>
  <cp:lastModifiedBy>Saicharan Bhuthkuri</cp:lastModifiedBy>
  <cp:revision>12</cp:revision>
  <dcterms:created xsi:type="dcterms:W3CDTF">2006-08-16T00:00:00Z</dcterms:created>
  <dcterms:modified xsi:type="dcterms:W3CDTF">2026-09-16T07:41:03Z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952C628C1D274A4F8A0BA40962B158B0_12</vt:lpwstr>
  </property>
  <property fmtid="{D5CDD505-2E9C-101B-9397-08002B2CF9AE}" pid="3" name="KSOProductBuildVer">
    <vt:lpwstr>1033-12.1.0.28485</vt:lpwstr>
  </property>
</Properties>
</file>