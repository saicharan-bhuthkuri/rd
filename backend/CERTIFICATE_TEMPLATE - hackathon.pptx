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22.fntdata" ContentType="application/x-fontdata"/>
  <Override PartName="/ppt/fonts/font23.fntdata" ContentType="application/x-fontdata"/>
  <Override PartName="/ppt/fonts/font24.fntdata" ContentType="application/x-fontdata"/>
  <Override PartName="/ppt/fonts/font25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0693400" cy="7556500"/>
  <p:notesSz cx="6858000" cy="9144000"/>
  <p:embeddedFontLst>
    <p:embeddedFont>
      <p:font typeface="Caladea" panose="02040503050406030204"/>
      <p:regular r:id="rId7"/>
      <p:bold r:id="rId8"/>
      <p:italic r:id="rId9"/>
      <p:boldItalic r:id="rId10"/>
    </p:embeddedFont>
    <p:embeddedFont>
      <p:font typeface="Caladea Bold" panose="02040803050406030204"/>
      <p:bold r:id="rId11"/>
    </p:embeddedFont>
    <p:embeddedFont>
      <p:font typeface="Palatino Linotype" panose="02040502050505030304" charset="0"/>
      <p:regular r:id="rId12"/>
      <p:bold r:id="rId13"/>
      <p:italic r:id="rId14"/>
      <p:boldItalic r:id="rId15"/>
    </p:embeddedFont>
    <p:embeddedFont>
      <p:font typeface="Inria Serif"/>
      <p:regular r:id="rId16"/>
    </p:embeddedFont>
    <p:embeddedFont>
      <p:font typeface="Cormorant Garamond"/>
      <p:regular r:id="rId17"/>
      <p:bold r:id="rId18"/>
      <p:italic r:id="rId19"/>
      <p:boldItalic r:id="rId20"/>
    </p:embeddedFont>
    <p:embeddedFont>
      <p:font typeface="Cormorant Garamond Bold" panose="00000800000000000000"/>
      <p:bold r:id="rId21"/>
    </p:embeddedFont>
    <p:embeddedFont>
      <p:font typeface="Inria Serif Bold"/>
      <p:bold r:id="rId22"/>
    </p:embeddedFont>
    <p:embeddedFont>
      <p:font typeface="Great Vibes"/>
      <p:regular r:id="rId23"/>
    </p:embeddedFont>
    <p:embeddedFont>
      <p:font typeface="Calibri" panose="020F0502020204030204" charset="0"/>
      <p:regular r:id="rId24"/>
      <p:bold r:id="rId25"/>
      <p:italic r:id="rId26"/>
      <p:boldItalic r:id="rId27"/>
    </p:embeddedFont>
    <p:embeddedFont>
      <p:font typeface="Cormorant Garamond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1" Type="http://schemas.openxmlformats.org/officeDocument/2006/relationships/font" Target="fonts/font25.fntdata"/><Relationship Id="rId30" Type="http://schemas.openxmlformats.org/officeDocument/2006/relationships/font" Target="fonts/font24.fntdata"/><Relationship Id="rId3" Type="http://schemas.openxmlformats.org/officeDocument/2006/relationships/slide" Target="slides/slide1.xml"/><Relationship Id="rId29" Type="http://schemas.openxmlformats.org/officeDocument/2006/relationships/font" Target="fonts/font23.fntdata"/><Relationship Id="rId28" Type="http://schemas.openxmlformats.org/officeDocument/2006/relationships/font" Target="fonts/font22.fntdata"/><Relationship Id="rId27" Type="http://schemas.openxmlformats.org/officeDocument/2006/relationships/font" Target="fonts/font21.fntdata"/><Relationship Id="rId26" Type="http://schemas.openxmlformats.org/officeDocument/2006/relationships/font" Target="fonts/font20.fntdata"/><Relationship Id="rId25" Type="http://schemas.openxmlformats.org/officeDocument/2006/relationships/font" Target="fonts/font19.fntdata"/><Relationship Id="rId24" Type="http://schemas.openxmlformats.org/officeDocument/2006/relationships/font" Target="fonts/font18.fntdata"/><Relationship Id="rId23" Type="http://schemas.openxmlformats.org/officeDocument/2006/relationships/font" Target="fonts/font17.fntdata"/><Relationship Id="rId22" Type="http://schemas.openxmlformats.org/officeDocument/2006/relationships/font" Target="fonts/font16.fntdata"/><Relationship Id="rId21" Type="http://schemas.openxmlformats.org/officeDocument/2006/relationships/font" Target="fonts/font15.fntdata"/><Relationship Id="rId20" Type="http://schemas.openxmlformats.org/officeDocument/2006/relationships/font" Target="fonts/font14.fntdata"/><Relationship Id="rId2" Type="http://schemas.openxmlformats.org/officeDocument/2006/relationships/theme" Target="theme/theme1.xml"/><Relationship Id="rId19" Type="http://schemas.openxmlformats.org/officeDocument/2006/relationships/font" Target="fonts/font13.fntdata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24531"/>
          </a:xfrm>
          <a:custGeom>
            <a:avLst/>
            <a:gdLst/>
            <a:ahLst/>
            <a:cxnLst/>
            <a:rect l="l" t="t" r="r" b="b"/>
            <a:pathLst>
              <a:path w="10692000" h="7524531">
                <a:moveTo>
                  <a:pt x="0" y="0"/>
                </a:moveTo>
                <a:lnTo>
                  <a:pt x="10692000" y="0"/>
                </a:lnTo>
                <a:lnTo>
                  <a:pt x="10692000" y="7524531"/>
                </a:lnTo>
                <a:lnTo>
                  <a:pt x="0" y="7524531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id="4" name="Group 4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l="l" t="t" r="r" b="b"/>
                <a:pathLst>
                  <a:path w="4839970" h="3711878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" name="Group 6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l="l" t="t" r="r" b="b"/>
                <a:pathLst>
                  <a:path w="1679712" h="1252324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" name="Group 8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" name="Group 10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l="l" t="t" r="r" b="b"/>
                <a:pathLst>
                  <a:path w="4555438" h="3884930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9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l="l" t="t" r="r" b="b"/>
                <a:pathLst>
                  <a:path w="2552933" h="174144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l="l" t="t" r="r" b="b"/>
                <a:pathLst>
                  <a:path w="3124847" h="1933111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l="l" t="t" r="r" b="b"/>
                <a:pathLst>
                  <a:path w="2969260" h="2131489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l="l" t="t" r="r" b="b"/>
                <a:pathLst>
                  <a:path w="2841554" h="2381081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2" name="Group 22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l="l" t="t" r="r" b="b"/>
                <a:pathLst>
                  <a:path w="4634240" h="41173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l="l" t="t" r="r" b="b"/>
                <a:pathLst>
                  <a:path w="9660890" h="3496502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l="l" t="t" r="r" b="b"/>
                <a:pathLst>
                  <a:path w="3733800" h="1922125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8" name="Group 3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4" name="Group 4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l="l" t="t" r="r" b="b"/>
                <a:pathLst>
                  <a:path w="1280316" h="1275610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0" name="Group 50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0160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l="l" t="t" r="r" b="b"/>
                <a:pathLst>
                  <a:path w="1276151" h="1274963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l="l" t="t" r="r" b="b"/>
                <a:pathLst>
                  <a:path w="1280097" h="1280189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4" name="Group 64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6" name="Group 66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80207" h="1271430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79961" h="1271430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2" name="Group 72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4" name="Group 74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l="l" t="t" r="r" b="b"/>
                <a:pathLst>
                  <a:path w="1298581" h="1272677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6" name="Group 76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1408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9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4659" h="1271826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2" name="Group 82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l="l" t="t" r="r" b="b"/>
                <a:pathLst>
                  <a:path w="1288990" h="1280598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4" name="Group 84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5485" h="1270160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6" name="Group 86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l="l" t="t" r="r" b="b"/>
                <a:pathLst>
                  <a:path w="1270160" h="1275239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8" name="Group 88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l="l" t="t" r="r" b="b"/>
                <a:pathLst>
                  <a:path w="1279579" h="1270604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0" name="Group 90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541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2" name="Group 92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9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4" name="Group 94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l="l" t="t" r="r" b="b"/>
                <a:pathLst>
                  <a:path w="1313686" h="1283084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6" name="Group 96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0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8" name="Group 98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2891" h="1271826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0" name="Group 100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1713" h="1271826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974" h="1273181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4" name="Group 104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8335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6" name="Group 106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8" name="Group 108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l="l" t="t" r="r" b="b"/>
                <a:pathLst>
                  <a:path w="1240665" h="1269227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0" name="Group 110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2" name="Group 112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4" name="Group 114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6" name="Group 116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8" name="Group 118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id="119" name="Freeform 119"/>
              <p:cNvSpPr/>
              <p:nvPr/>
            </p:nvSpPr>
            <p:spPr>
              <a:xfrm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935" h="1269219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0" name="Group 120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2" name="Group 122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2732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4" name="Group 124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3181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6" name="Group 126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l="l" t="t" r="r" b="b"/>
                <a:pathLst>
                  <a:path w="1294103" h="129193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8" name="Group 128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id="130" name="Freeform 130"/>
          <p:cNvSpPr/>
          <p:nvPr/>
        </p:nvSpPr>
        <p:spPr>
          <a:xfrm>
            <a:off x="7970415" y="515342"/>
            <a:ext cx="614185" cy="647636"/>
          </a:xfrm>
          <a:custGeom>
            <a:avLst/>
            <a:gdLst/>
            <a:ahLst/>
            <a:cxnLst/>
            <a:rect l="l" t="t" r="r" b="b"/>
            <a:pathLst>
              <a:path w="614185" h="647636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600" b="-12293"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8803676" y="521724"/>
            <a:ext cx="612730" cy="645031"/>
          </a:xfrm>
          <a:custGeom>
            <a:avLst/>
            <a:gdLst/>
            <a:ahLst/>
            <a:cxnLst/>
            <a:rect l="l" t="t" r="r" b="b"/>
            <a:pathLst>
              <a:path w="612730" h="645031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291034" y="515342"/>
            <a:ext cx="591436" cy="647636"/>
          </a:xfrm>
          <a:custGeom>
            <a:avLst/>
            <a:gdLst/>
            <a:ahLst/>
            <a:cxnLst/>
            <a:rect l="l" t="t" r="r" b="b"/>
            <a:pathLst>
              <a:path w="591436" h="6476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2058850" y="515342"/>
            <a:ext cx="654205" cy="647636"/>
          </a:xfrm>
          <a:custGeom>
            <a:avLst/>
            <a:gdLst/>
            <a:ahLst/>
            <a:cxnLst/>
            <a:rect l="l" t="t" r="r" b="b"/>
            <a:pathLst>
              <a:path w="654205" h="647636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r="-1847"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8183477" y="1204856"/>
            <a:ext cx="1232929" cy="555522"/>
          </a:xfrm>
          <a:custGeom>
            <a:avLst/>
            <a:gdLst/>
            <a:ahLst/>
            <a:cxnLst/>
            <a:rect l="l" t="t" r="r" b="b"/>
            <a:pathLst>
              <a:path w="1232929" h="555522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9066" b="-62874"/>
            </a:stretch>
          </a:blipFill>
        </p:spPr>
      </p:sp>
      <p:sp>
        <p:nvSpPr>
          <p:cNvPr id="135" name="AutoShape 135"/>
          <p:cNvSpPr/>
          <p:nvPr/>
        </p:nvSpPr>
        <p:spPr>
          <a:xfrm flipV="1">
            <a:off x="2381886" y="4088138"/>
            <a:ext cx="592822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6" name="Freeform 136"/>
          <p:cNvSpPr/>
          <p:nvPr/>
        </p:nvSpPr>
        <p:spPr>
          <a:xfrm>
            <a:off x="0" y="5116794"/>
            <a:ext cx="10692000" cy="4886413"/>
          </a:xfrm>
          <a:custGeom>
            <a:avLst/>
            <a:gdLst/>
            <a:ahLst/>
            <a:cxnLst/>
            <a:rect l="l" t="t" r="r" b="b"/>
            <a:pathLst>
              <a:path w="10692000" h="4886413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b="-28763"/>
            </a:stretch>
          </a:blipFill>
        </p:spPr>
      </p:sp>
      <p:grpSp>
        <p:nvGrpSpPr>
          <p:cNvPr id="138" name="Group 138"/>
          <p:cNvGrpSpPr/>
          <p:nvPr/>
        </p:nvGrpSpPr>
        <p:grpSpPr>
          <a:xfrm rot="0">
            <a:off x="2323856" y="5516737"/>
            <a:ext cx="5859622" cy="1624382"/>
            <a:chOff x="0" y="0"/>
            <a:chExt cx="7812829" cy="2165843"/>
          </a:xfrm>
        </p:grpSpPr>
        <p:sp>
          <p:nvSpPr>
            <p:cNvPr id="139" name="Freeform 139"/>
            <p:cNvSpPr/>
            <p:nvPr/>
          </p:nvSpPr>
          <p:spPr>
            <a:xfrm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l="l" t="t" r="r" b="b"/>
              <a:pathLst>
                <a:path w="2123741" h="2794396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0" name="Freeform 140"/>
            <p:cNvSpPr/>
            <p:nvPr/>
          </p:nvSpPr>
          <p:spPr>
            <a:xfrm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l="l" t="t" r="r" b="b"/>
              <a:pathLst>
                <a:path w="2115043" h="2782951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1" name="TextBox 141"/>
            <p:cNvSpPr txBox="1"/>
            <p:nvPr/>
          </p:nvSpPr>
          <p:spPr>
            <a:xfrm>
              <a:off x="149481" y="1391633"/>
              <a:ext cx="2791493" cy="198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R&amp;D Chief Coordinator</a:t>
              </a:r>
              <a:endParaRPr lang="en-US" sz="11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  <p:sp>
          <p:nvSpPr>
            <p:cNvPr id="142" name="AutoShape 142"/>
            <p:cNvSpPr/>
            <p:nvPr/>
          </p:nvSpPr>
          <p:spPr>
            <a:xfrm flipV="1">
              <a:off x="324220" y="1078109"/>
              <a:ext cx="2442014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3" name="AutoShape 143"/>
            <p:cNvSpPr/>
            <p:nvPr/>
          </p:nvSpPr>
          <p:spPr>
            <a:xfrm flipV="1">
              <a:off x="5830018" y="1078109"/>
              <a:ext cx="1840057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5830018" y="1167384"/>
              <a:ext cx="1840057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Mani Ganesh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38228" y="1167384"/>
              <a:ext cx="2813998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Vootla Ashok Kumar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6" name="Freeform 146"/>
            <p:cNvSpPr/>
            <p:nvPr/>
          </p:nvSpPr>
          <p:spPr>
            <a:xfrm>
              <a:off x="831010" y="517697"/>
              <a:ext cx="1261292" cy="1002966"/>
            </a:xfrm>
            <a:custGeom>
              <a:avLst/>
              <a:gdLst/>
              <a:ahLst/>
              <a:cxnLst/>
              <a:rect l="l" t="t" r="r" b="b"/>
              <a:pathLst>
                <a:path w="1261292" h="1002966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5249" b="-5249"/>
              </a:stretch>
            </a:blipFill>
          </p:spPr>
        </p:sp>
        <p:sp>
          <p:nvSpPr>
            <p:cNvPr id="147" name="Freeform 147"/>
            <p:cNvSpPr/>
            <p:nvPr/>
          </p:nvSpPr>
          <p:spPr>
            <a:xfrm>
              <a:off x="6056510" y="486483"/>
              <a:ext cx="1387073" cy="833111"/>
            </a:xfrm>
            <a:custGeom>
              <a:avLst/>
              <a:gdLst/>
              <a:ahLst/>
              <a:cxnLst/>
              <a:rect l="l" t="t" r="r" b="b"/>
              <a:pathLst>
                <a:path w="1387073" h="833111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6164926" y="1403568"/>
              <a:ext cx="1170240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Principal</a:t>
              </a:r>
              <a:endParaRPr lang="en-US" sz="12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</p:grpSp>
      <p:sp>
        <p:nvSpPr>
          <p:cNvPr id="149" name="Freeform 149"/>
          <p:cNvSpPr/>
          <p:nvPr/>
        </p:nvSpPr>
        <p:spPr>
          <a:xfrm>
            <a:off x="3441772" y="421159"/>
            <a:ext cx="3808456" cy="836002"/>
          </a:xfrm>
          <a:custGeom>
            <a:avLst/>
            <a:gdLst/>
            <a:ahLst/>
            <a:cxnLst/>
            <a:rect l="l" t="t" r="r" b="b"/>
            <a:pathLst>
              <a:path w="3808456" h="836002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0" name="Freeform 150"/>
          <p:cNvSpPr/>
          <p:nvPr/>
        </p:nvSpPr>
        <p:spPr>
          <a:xfrm>
            <a:off x="3441772" y="1166756"/>
            <a:ext cx="3808456" cy="928716"/>
          </a:xfrm>
          <a:custGeom>
            <a:avLst/>
            <a:gdLst/>
            <a:ahLst/>
            <a:cxnLst/>
            <a:rect l="l" t="t" r="r" b="b"/>
            <a:pathLst>
              <a:path w="3808456" h="92871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1" name="TextBox 151"/>
          <p:cNvSpPr txBox="1"/>
          <p:nvPr/>
        </p:nvSpPr>
        <p:spPr>
          <a:xfrm>
            <a:off x="1574763" y="1849951"/>
            <a:ext cx="7542474" cy="1040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</a:pPr>
            <a:r>
              <a:rPr lang="en-US" sz="5800" b="1" spc="1873">
                <a:solidFill>
                  <a:srgbClr val="01327B"/>
                </a:solidFill>
                <a:latin typeface="Palatino Linotype" panose="02040502050505030304" charset="0"/>
                <a:ea typeface="Palatino Bold" panose="02040702050505030304"/>
                <a:cs typeface="Palatino Linotype" panose="02040502050505030304" charset="0"/>
                <a:sym typeface="Palatino Bold" panose="02040702050505030304"/>
              </a:rPr>
              <a:t>CERTIFICATE</a:t>
            </a:r>
            <a:endParaRPr lang="en-US" sz="5800" b="1" spc="1873">
              <a:solidFill>
                <a:srgbClr val="01327B"/>
              </a:solidFill>
              <a:latin typeface="Palatino Linotype" panose="02040502050505030304" charset="0"/>
              <a:ea typeface="Palatino Bold" panose="02040702050505030304"/>
              <a:cs typeface="Palatino Linotype" panose="02040502050505030304" charset="0"/>
              <a:sym typeface="Palatino Bold" panose="02040702050505030304"/>
            </a:endParaRPr>
          </a:p>
        </p:txBody>
      </p:sp>
      <p:sp>
        <p:nvSpPr>
          <p:cNvPr id="153" name="TextBox 153"/>
          <p:cNvSpPr txBox="1"/>
          <p:nvPr/>
        </p:nvSpPr>
        <p:spPr>
          <a:xfrm>
            <a:off x="1689892" y="2982156"/>
            <a:ext cx="7542474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  <a:endParaRPr lang="en-US" sz="1500" spc="162">
              <a:solidFill>
                <a:srgbClr val="01327B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54" name="TextBox 154"/>
          <p:cNvSpPr txBox="1"/>
          <p:nvPr/>
        </p:nvSpPr>
        <p:spPr>
          <a:xfrm>
            <a:off x="893277" y="4174207"/>
            <a:ext cx="8905445" cy="160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has successfully {{C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ERTIF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ICATE TYPE}} 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in the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organized by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Trinity College of Engineering and Technology (Autonomous), Peddapalli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held on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{{DATE}}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 member of Team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{{TEAM NAME}}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they contributed to the development and presentation of the innovative project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“{{PROJECT TITLE}}”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demonstrating creativity, technical skills, teamwork, and problem-solving abilities.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</p:txBody>
      </p:sp>
      <p:sp>
        <p:nvSpPr>
          <p:cNvPr id="155" name="TextBox 155"/>
          <p:cNvSpPr txBox="1"/>
          <p:nvPr/>
        </p:nvSpPr>
        <p:spPr>
          <a:xfrm>
            <a:off x="4279955" y="7062276"/>
            <a:ext cx="2132090" cy="138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65"/>
              </a:lnSpc>
            </a:pPr>
            <a:r>
              <a:rPr lang="en-US" sz="830" b="1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  <a:endParaRPr lang="en-US" sz="830" b="1" spc="15">
              <a:solidFill>
                <a:srgbClr val="B30D3E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76221" y="3563181"/>
            <a:ext cx="10206242" cy="44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0"/>
              </a:lnSpc>
            </a:pPr>
            <a:r>
              <a:rPr lang="en-US" sz="400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{{PARTICIPANT NAME}} </a:t>
            </a:r>
            <a:endParaRPr lang="en-US" sz="4000">
              <a:solidFill>
                <a:srgbClr val="000000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WPS Presentation</Application>
  <PresentationFormat>On-screen Show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0" baseType="lpstr">
      <vt:lpstr>Arial</vt:lpstr>
      <vt:lpstr>SimSun</vt:lpstr>
      <vt:lpstr>Wingdings</vt:lpstr>
      <vt:lpstr>Caladea</vt:lpstr>
      <vt:lpstr>Caladea Bold</vt:lpstr>
      <vt:lpstr>Palatino Linotype</vt:lpstr>
      <vt:lpstr>Palatino Bold</vt:lpstr>
      <vt:lpstr>Segoe Print</vt:lpstr>
      <vt:lpstr>Inria Serif</vt:lpstr>
      <vt:lpstr>Cormorant Garamond</vt:lpstr>
      <vt:lpstr>Cormorant Garamond Bold</vt:lpstr>
      <vt:lpstr>Inria Serif Bold</vt:lpstr>
      <vt:lpstr>Great Vibes</vt:lpstr>
      <vt:lpstr>Calibri</vt:lpstr>
      <vt:lpstr>Microsoft YaHei</vt:lpstr>
      <vt:lpstr>Arial Unicode MS</vt:lpstr>
      <vt:lpstr>Cormorant Garamond Medium</vt:lpstr>
      <vt:lpstr>Cormorant Garamond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</dc:title>
  <dc:creator/>
  <cp:lastModifiedBy>Saicharan Bhuthkuri</cp:lastModifiedBy>
  <cp:revision>4</cp:revision>
  <dcterms:created xsi:type="dcterms:W3CDTF">2006-08-16T00:00:00Z</dcterms:created>
  <dcterms:modified xsi:type="dcterms:W3CDTF">2026-08-24T11:32:52Z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41F778F56E6D4ED798035DBEEFC76DDC_12</vt:lpwstr>
  </property>
  <property fmtid="{D5CDD505-2E9C-101B-9397-08002B2CF9AE}" pid="3" name="KSOProductBuildVer">
    <vt:lpwstr>1033-12.1.0.28032</vt:lpwstr>
  </property>
</Properties>
</file>